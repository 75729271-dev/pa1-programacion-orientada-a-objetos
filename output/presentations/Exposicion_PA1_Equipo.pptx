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c8d125490c476f" /><Relationship Type="http://schemas.openxmlformats.org/officeDocument/2006/relationships/extended-properties" Target="/docProps/app.xml" Id="Rb8efa3ea48a24b42" /><Relationship Type="http://schemas.openxmlformats.org/officeDocument/2006/relationships/officeDocument" Target="/ppt/presentation.xml" Id="Rf7de88e7eb2a4b98" /></Relationships>
</file>

<file path=ppt/presentation.xml><?xml version="1.0" encoding="utf-8"?>
<p:presentation xmlns:p="http://schemas.openxmlformats.org/presentationml/2006/main">
  <p:sldMasterIdLst>
    <p:sldMasterId xmlns:r="http://schemas.openxmlformats.org/officeDocument/2006/relationships" id="2147483648" r:id="R8f8905a0109642fd"/>
  </p:sldMasterIdLst>
  <p:notesMasterIdLst>
    <p:notesMasterId xmlns:r="http://schemas.openxmlformats.org/officeDocument/2006/relationships" r:id="R5153f8519f714b7a"/>
  </p:notesMasterIdLst>
  <p:sldIdLst>
    <p:sldId xmlns:r="http://schemas.openxmlformats.org/officeDocument/2006/relationships" id="256" r:id="R62186decf1a041b4"/>
    <p:sldId xmlns:r="http://schemas.openxmlformats.org/officeDocument/2006/relationships" id="257" r:id="R641285b88d394830"/>
    <p:sldId xmlns:r="http://schemas.openxmlformats.org/officeDocument/2006/relationships" id="258" r:id="Rbf49c27c34594e90"/>
    <p:sldId xmlns:r="http://schemas.openxmlformats.org/officeDocument/2006/relationships" id="259" r:id="Rfa9c773958a24938"/>
    <p:sldId xmlns:r="http://schemas.openxmlformats.org/officeDocument/2006/relationships" id="260" r:id="R6f6e43643eea43de"/>
    <p:sldId xmlns:r="http://schemas.openxmlformats.org/officeDocument/2006/relationships" id="261" r:id="R497a3cfecf1845b6"/>
    <p:sldId xmlns:r="http://schemas.openxmlformats.org/officeDocument/2006/relationships" id="262" r:id="R077bd16014b94d15"/>
    <p:sldId xmlns:r="http://schemas.openxmlformats.org/officeDocument/2006/relationships" id="263" r:id="R6ef8a4295dc644ec"/>
    <p:sldId xmlns:r="http://schemas.openxmlformats.org/officeDocument/2006/relationships" id="264" r:id="R20e504118204487a"/>
    <p:sldId xmlns:r="http://schemas.openxmlformats.org/officeDocument/2006/relationships" id="265" r:id="R8f9664cc762a4d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c022ecc714486c" /><Relationship Type="http://schemas.openxmlformats.org/officeDocument/2006/relationships/slideMaster" Target="/ppt/slideMasters/slideMaster1.xml" Id="R8f8905a0109642fd" /><Relationship Type="http://schemas.openxmlformats.org/officeDocument/2006/relationships/notesMaster" Target="/ppt/notesMasters/notesMaster1.xml" Id="R5153f8519f714b7a" /><Relationship Type="http://schemas.openxmlformats.org/officeDocument/2006/relationships/presProps" Target="/ppt/presProps.xml" Id="R05a72e81f61d4110" /><Relationship Type="http://schemas.openxmlformats.org/officeDocument/2006/relationships/tableStyles" Target="/ppt/tableStyles.xml" Id="R91188886ea934051" /><Relationship Type="http://schemas.openxmlformats.org/officeDocument/2006/relationships/slide" Target="/ppt/slides/slide1.xml" Id="R62186decf1a041b4" /><Relationship Type="http://schemas.openxmlformats.org/officeDocument/2006/relationships/slide" Target="/ppt/slides/slide2.xml" Id="R641285b88d394830" /><Relationship Type="http://schemas.openxmlformats.org/officeDocument/2006/relationships/slide" Target="/ppt/slides/slide3.xml" Id="Rbf49c27c34594e90" /><Relationship Type="http://schemas.openxmlformats.org/officeDocument/2006/relationships/slide" Target="/ppt/slides/slide4.xml" Id="Rfa9c773958a24938" /><Relationship Type="http://schemas.openxmlformats.org/officeDocument/2006/relationships/slide" Target="/ppt/slides/slide5.xml" Id="R6f6e43643eea43de" /><Relationship Type="http://schemas.openxmlformats.org/officeDocument/2006/relationships/slide" Target="/ppt/slides/slide6.xml" Id="R497a3cfecf1845b6" /><Relationship Type="http://schemas.openxmlformats.org/officeDocument/2006/relationships/slide" Target="/ppt/slides/slide7.xml" Id="R077bd16014b94d15" /><Relationship Type="http://schemas.openxmlformats.org/officeDocument/2006/relationships/slide" Target="/ppt/slides/slide8.xml" Id="R6ef8a4295dc644ec" /><Relationship Type="http://schemas.openxmlformats.org/officeDocument/2006/relationships/slide" Target="/ppt/slides/slide9.xml" Id="R20e504118204487a" /><Relationship Type="http://schemas.openxmlformats.org/officeDocument/2006/relationships/slide" Target="/ppt/slides/slide10.xml" Id="R8f9664cc762a4d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e25ddc8dcd49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1d6cb8e3147ce" /><Relationship Type="http://schemas.openxmlformats.org/officeDocument/2006/relationships/notesMaster" Target="/ppt/notesMasters/notesMaster1.xml" Id="Rbff3123d8fa941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71bf365d4a4f92" /><Relationship Type="http://schemas.openxmlformats.org/officeDocument/2006/relationships/notesMaster" Target="/ppt/notesMasters/notesMaster1.xml" Id="R50474a6e249640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f1e5de98e44fd1" /><Relationship Type="http://schemas.openxmlformats.org/officeDocument/2006/relationships/notesMaster" Target="/ppt/notesMasters/notesMaster1.xml" Id="R04bf284737c14e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3185959d8f497e" /><Relationship Type="http://schemas.openxmlformats.org/officeDocument/2006/relationships/notesMaster" Target="/ppt/notesMasters/notesMaster1.xml" Id="R52994edbcfeb45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3a311a747f4d89" /><Relationship Type="http://schemas.openxmlformats.org/officeDocument/2006/relationships/notesMaster" Target="/ppt/notesMasters/notesMaster1.xml" Id="R77d97fe7bbdb43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79893320874f0d" /><Relationship Type="http://schemas.openxmlformats.org/officeDocument/2006/relationships/notesMaster" Target="/ppt/notesMasters/notesMaster1.xml" Id="Raaab851b293b41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f40fc74c094f43" /><Relationship Type="http://schemas.openxmlformats.org/officeDocument/2006/relationships/notesMaster" Target="/ppt/notesMasters/notesMaster1.xml" Id="Rf341c60afa5a48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d9d7ebd6e84262" /><Relationship Type="http://schemas.openxmlformats.org/officeDocument/2006/relationships/notesMaster" Target="/ppt/notesMasters/notesMaster1.xml" Id="R06b26dd9057a4b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f667bbc42d4fbf" /><Relationship Type="http://schemas.openxmlformats.org/officeDocument/2006/relationships/notesMaster" Target="/ppt/notesMasters/notesMaster1.xml" Id="Rf5afb748ac6341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fa31d1ad714d40" /><Relationship Type="http://schemas.openxmlformats.org/officeDocument/2006/relationships/notesMaster" Target="/ppt/notesMasters/notesMaster1.xml" Id="Rfb535c386c4a46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0:00 - 0:25</a:t>
            </a:r>
          </a:p>
          <a:p xmlns:a="http://schemas.openxmlformats.org/drawingml/2006/main">
            <a:r>
              <a:t/>
            </a:r>
          </a:p>
          <a:p xmlns:a="http://schemas.openxmlformats.org/drawingml/2006/main">
            <a:r>
              <a:t>EN PANTALLA: Mostrar la portada, con las cámaras encendidas.</a:t>
            </a:r>
          </a:p>
          <a:p xmlns:a="http://schemas.openxmlformats.org/drawingml/2006/main">
            <a:r>
              <a:t/>
            </a:r>
          </a:p>
          <a:p xmlns:a="http://schemas.openxmlformats.org/drawingml/2006/main">
            <a:r>
              <a:t>GUION: Buenos días. Somos Angel Fernando Reyes Moreno, Flor de Venus Torres Condori, Donny Scrach Gaspar Araujo y César Augusto Maguiña Robles. Presentamos el PA1 del curso Programación Orientada a Objetos: un sistema de registro y control de productos en Java, ejecutado por consola.</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0:25 - 1:00</a:t>
            </a:r>
          </a:p>
          <a:p xmlns:a="http://schemas.openxmlformats.org/drawingml/2006/main">
            <a:r>
              <a:t/>
            </a:r>
          </a:p>
          <a:p xmlns:a="http://schemas.openxmlformats.org/drawingml/2006/main">
            <a:r>
              <a:t>EN PANTALLA: Señalar las operaciones y los datos del producto. No abrir todavía la consola.</a:t>
            </a:r>
          </a:p>
          <a:p xmlns:a="http://schemas.openxmlformats.org/drawingml/2006/main">
            <a:r>
              <a:t/>
            </a:r>
          </a:p>
          <a:p xmlns:a="http://schemas.openxmlformats.org/drawingml/2006/main">
            <a:r>
              <a:t>GUION: El caso plantea que una microempresa necesita registrar productos, consultar información y controlar sus existencias mediante un menú. Cada producto tiene un código único, nombre, precio, stock actual y stock mínimo. La aplicación permite ingresar unidades, retirarlas solo si hay disponibilidad y consultar alertas. El alcance corresponde a los fundamentos de las sesiones uno a cuatro. Por eso la interacción se realiza en consola y los datos permanecen en memoria durante la ejecución.</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Angel Fernando Reyes Moreno</a:t>
            </a:r>
          </a:p>
          <a:p xmlns:a="http://schemas.openxmlformats.org/drawingml/2006/main">
            <a:r>
              <a:t>Tiempo orientativo: 1:00 - 1:45</a:t>
            </a:r>
          </a:p>
          <a:p xmlns:a="http://schemas.openxmlformats.org/drawingml/2006/main">
            <a:r>
              <a:t/>
            </a:r>
          </a:p>
          <a:p xmlns:a="http://schemas.openxmlformats.org/drawingml/2006/main">
            <a:r>
              <a:t>EN PANTALLA: Mostrar la tabla de clases y relacionar Producto con los ejemplos Arroz y Aceite.</a:t>
            </a:r>
          </a:p>
          <a:p xmlns:a="http://schemas.openxmlformats.org/drawingml/2006/main">
            <a:r>
              <a:t/>
            </a:r>
          </a:p>
          <a:p xmlns:a="http://schemas.openxmlformats.org/drawingml/2006/main">
            <a:r>
              <a:t>GUION: La solución separa tres responsabilidades. Producto representa cada artículo y controla sus existencias. Inventario agrupa los productos, busca por código y calcula los totales. Aplicacion contiene el método main, muestra el menú y recibe las entradas. La clase es la plantilla y cada artículo registrado es un objeto. Por ejemplo, Arroz y Aceite son dos objetos Producto y cada uno tiene su propio stock. Esta separación permite probar las reglas sin depender del menú. Flor explicará cómo se inicializan los objetos y cómo se realizan los cálculos.</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Flor de Venus Torres Condori</a:t>
            </a:r>
          </a:p>
          <a:p xmlns:a="http://schemas.openxmlformats.org/drawingml/2006/main">
            <a:r>
              <a:t>Tiempo orientativo: 1:45 - 2:35</a:t>
            </a:r>
          </a:p>
          <a:p xmlns:a="http://schemas.openxmlformats.org/drawingml/2006/main">
            <a:r>
              <a:t/>
            </a:r>
          </a:p>
          <a:p xmlns:a="http://schemas.openxmlformats.org/drawingml/2006/main">
            <a:r>
              <a:t>EN PANTALLA: Señalar los atributos, el nombre del constructor y los dos tipos de métodos en la diapositiva.</a:t>
            </a:r>
          </a:p>
          <a:p xmlns:a="http://schemas.openxmlformats.org/drawingml/2006/main">
            <a:r>
              <a:t/>
            </a:r>
          </a:p>
          <a:p xmlns:a="http://schemas.openxmlformats.org/drawingml/2006/main">
            <a:r>
              <a:t>GUION: Producto utiliza atributos privados para conservar el código, nombre, precio, stock y stock mínimo. Son atributos de instancia: cada producto mantiene valores propios. STOCK_MAXIMO es una constante de clase declarada con static final y se comparte entre todos los objetos. El constructor recibe cinco parámetros e inicializa el artículo. Antes de invocarlo, Inventario valida los datos. Los métodos también tienen propósitos distintos: mostrarInformacion realiza una acción sin devolver un valor, mientras que calcularValorStock devuelve el resultado de multiplicar precio por stock.</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Flor de Venus Torres Condori</a:t>
            </a:r>
          </a:p>
          <a:p xmlns:a="http://schemas.openxmlformats.org/drawingml/2006/main">
            <a:r>
              <a:t>Tiempo orientativo: 2:35 - 3:35</a:t>
            </a:r>
          </a:p>
          <a:p xmlns:a="http://schemas.openxmlformats.org/drawingml/2006/main">
            <a:r>
              <a:t/>
            </a:r>
          </a:p>
          <a:p xmlns:a="http://schemas.openxmlformats.org/drawingml/2006/main">
            <a:r>
              <a:t>EN PANTALLA: Señalar cantidad++ y unidades += productos[i].getStock(). Distinguir contador de acumulador.</a:t>
            </a:r>
          </a:p>
          <a:p xmlns:a="http://schemas.openxmlformats.org/drawingml/2006/main">
            <a:r>
              <a:t/>
            </a:r>
          </a:p>
          <a:p xmlns:a="http://schemas.openxmlformats.org/drawingml/2006/main">
            <a:r>
              <a:t>GUION: Inventario utiliza un arreglo fijo con capacidad para cien productos. La sesión uno introduce el concepto de contenedor y menciona los arreglos. La variable cantidad cuenta los productos registrados; aumenta en uno después de un registro correcto. En cambio, unidades es un acumulador: suma el stock de cada producto. Otro acumulador suma el valor de sus existencias. El bucle for recorre solo las posiciones ocupadas, desde cero hasta cantidad menos uno. Así se evitan posiciones vacías. La búsqueda compara códigos sin distinguir mayúsculas y minúsculas, para impedir duplicados. Donny mostrará cómo estas reglas se utilizan desde el menú.</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Donny Scrach Gaspar Araujo</a:t>
            </a:r>
          </a:p>
          <a:p xmlns:a="http://schemas.openxmlformats.org/drawingml/2006/main">
            <a:r>
              <a:t>Tiempo orientativo: 3:35 - 4:15</a:t>
            </a:r>
          </a:p>
          <a:p xmlns:a="http://schemas.openxmlformats.org/drawingml/2006/main">
            <a:r>
              <a:t/>
            </a:r>
          </a:p>
          <a:p xmlns:a="http://schemas.openxmlformats.org/drawingml/2006/main">
            <a:r>
              <a:t>EN PANTALLA: Mostrar la tabla de estructuras. Abrir ejecutar.bat y pasar a la consola.</a:t>
            </a:r>
          </a:p>
          <a:p xmlns:a="http://schemas.openxmlformats.org/drawingml/2006/main">
            <a:r>
              <a:t/>
            </a:r>
          </a:p>
          <a:p xmlns:a="http://schemas.openxmlformats.org/drawingml/2006/main">
            <a:r>
              <a:t>GUION: El método main comienza mostrando el menú. El do while garantiza que aparezca al menos una vez y lo repite hasta salir. El switch ejecuta la opción seleccionada. Los lectores usan while para volver a solicitar una entrada inválida. Los if deciden si un registro o un movimiento está permitido. El for recorre el inventario. A continuación veremos un ejemplo que combina registro, retiro, reposición y consulta del resumen.</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Donny Scrach Gaspar Araujo</a:t>
            </a:r>
          </a:p>
          <a:p xmlns:a="http://schemas.openxmlformats.org/drawingml/2006/main">
            <a:r>
              <a:t>Tiempo orientativo: 4:15 - 6:15</a:t>
            </a:r>
          </a:p>
          <a:p xmlns:a="http://schemas.openxmlformats.org/drawingml/2006/main">
            <a:r>
              <a:t/>
            </a:r>
          </a:p>
          <a:p xmlns:a="http://schemas.openxmlformats.org/drawingml/2006/main">
            <a:r>
              <a:t>EN PANTALLA: Realizar la secuencia de la página 6 del PDF. Volver a la diapositiva para comparar los resultados. Hablar mientras se ingresan los datos.</a:t>
            </a:r>
          </a:p>
          <a:p xmlns:a="http://schemas.openxmlformats.org/drawingml/2006/main">
            <a:r>
              <a:t/>
            </a:r>
          </a:p>
          <a:p xmlns:a="http://schemas.openxmlformats.org/drawingml/2006/main">
            <a:r>
              <a:t>GUION: Primero registramos A01, Arroz, a cuatro soles con cincuenta, con diez unidades y mínimo de tres. Registramos B01, Aceite, a ocho soles, con dos unidades y mínimo de dos. Al intentar repetir A01, el sistema rechaza el código duplicado. Retiramos siete unidades de Arroz y quedan tres; se activa la alerta porque el stock es igual al mínimo. Si intentamos retirar cuatro, la operación se rechaza y el stock sigue en tres. Reponemos dos unidades, de modo que quedan cinco. El resumen muestra dos productos, siete unidades, una alerta y un valor total de treinta y ocho soles con cincuenta. Ese valor proviene de cinco por cuatro cincuenta más dos por ocho. César explicará las validaciones y las pruebas que respaldan este comportamiento.</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César Augusto MAGUIÑA ROBLES</a:t>
            </a:r>
          </a:p>
          <a:p xmlns:a="http://schemas.openxmlformats.org/drawingml/2006/main">
            <a:r>
              <a:t>Tiempo orientativo: 6:15 - 6:55</a:t>
            </a:r>
          </a:p>
          <a:p xmlns:a="http://schemas.openxmlformats.org/drawingml/2006/main">
            <a:r>
              <a:t/>
            </a:r>
          </a:p>
          <a:p xmlns:a="http://schemas.openxmlformats.org/drawingml/2006/main">
            <a:r>
              <a:t>EN PANTALLA: Explicar el método retirarStock y el ejemplo de un retiro rechazado con tres unidades disponibles.</a:t>
            </a:r>
          </a:p>
          <a:p xmlns:a="http://schemas.openxmlformats.org/drawingml/2006/main">
            <a:r>
              <a:t/>
            </a:r>
          </a:p>
          <a:p xmlns:a="http://schemas.openxmlformats.org/drawingml/2006/main">
            <a:r>
              <a:t>GUION: La aplicación rechaza textos vacíos, códigos repetidos y valores numéricos fuera de rango. Un movimiento debe tener una cantidad positiva. Para retirar, tieneStock comprueba que la cantidad no supere las existencias; solamente entonces se resta. Si la condición no se cumple, el método devuelve false y conserva el stock. También se limita el ingreso máximo y se controla el fin de entrada para no registrar operaciones incompletas.</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César Augusto MAGUIÑA ROBLES</a:t>
            </a:r>
          </a:p>
          <a:p xmlns:a="http://schemas.openxmlformats.org/drawingml/2006/main">
            <a:r>
              <a:t>Tiempo orientativo: 6:55 - 7:40</a:t>
            </a:r>
          </a:p>
          <a:p xmlns:a="http://schemas.openxmlformats.org/drawingml/2006/main">
            <a:r>
              <a:t/>
            </a:r>
          </a:p>
          <a:p xmlns:a="http://schemas.openxmlformats.org/drawingml/2006/main">
            <a:r>
              <a:t>EN PANTALLA: Mostrar docs/pruebas.md si se desea ampliar la evidencia. No afirmar que se ejecutaron las pruebas en vivo si no se muestran.</a:t>
            </a:r>
          </a:p>
          <a:p xmlns:a="http://schemas.openxmlformats.org/drawingml/2006/main">
            <a:r>
              <a:t/>
            </a:r>
          </a:p>
          <a:p xmlns:a="http://schemas.openxmlformats.org/drawingml/2006/main">
            <a:r>
              <a:t>GUION: Se ejecutaron ciento cuarenta y dos verificaciones de lógica y catorce escenarios de consola. Las verificaciones incluyen cien registros para comprobar la capacidad del inventario, además de duplicados, estados del stock y cálculos. Los escenarios de consola prueban el flujo completo, entradas inválidas y finalización de la entrada. Un caso comprueba que retirar más unidades de las disponibles no cambie el stock; otro confirma que el resumen del ejemplo sea treinta y ocho soles con cincuenta. Los resultados y una transcripción se encuentran en la carpeta docs del repositorio.</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César Augusto MAGUIÑA ROBLES</a:t>
            </a:r>
          </a:p>
          <a:p xmlns:a="http://schemas.openxmlformats.org/drawingml/2006/main">
            <a:r>
              <a:t>Tiempo orientativo: 7:40 - 8:15</a:t>
            </a:r>
          </a:p>
          <a:p xmlns:a="http://schemas.openxmlformats.org/drawingml/2006/main">
            <a:r>
              <a:t/>
            </a:r>
          </a:p>
          <a:p xmlns:a="http://schemas.openxmlformats.org/drawingml/2006/main">
            <a:r>
              <a:t>EN PANTALLA: Mostrar el enlace del repositorio. Finalizar la grabación después del cierre.</a:t>
            </a:r>
          </a:p>
          <a:p xmlns:a="http://schemas.openxmlformats.org/drawingml/2006/main">
            <a:r>
              <a:t/>
            </a:r>
          </a:p>
          <a:p xmlns:a="http://schemas.openxmlformats.org/drawingml/2006/main">
            <a:r>
              <a:t>GUION: El programa cubre el registro, la consulta y el control básico de productos solicitado. La solución aplica clases, constructores, métodos y estructuras de control. Sus límites son explícitos: admite cien productos y conserva los datos solo durante la ejecución. El precio usa double con redondeo y presentación a dos decimales, adecuado para este ejercicio introductorio. El repositorio público contiene el código, las instrucciones, el análisis y las evidencias. Con esta demostración presentamos el funcionamiento y la justificación de la solución. Gracias.</a:t>
            </a:r>
          </a:p>
          <a:p xmlns:a="http://schemas.openxmlformats.org/drawingml/2006/main">
            <a:r>
              <a:t/>
            </a:r>
          </a:p>
          <a:p xmlns:a="http://schemas.openxmlformats.org/drawingml/2006/main">
            <a:r>
              <a:t>Fuentes: PA1_Programacion_Orientada_a_Objetos.pdf, pp. 1-3; 30626-S01-PPT.pptx a 30626-S04-PPT.pptx; https://github.com/75729271-dev/pa1-programacion-orientada-a-objetos. Código src/Producto.java, src/Inventario.java, src/Aplicacion.java y docs/pruebas.md.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f56dc5a6ec43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bdfa582c064896" /><Relationship Type="http://schemas.openxmlformats.org/officeDocument/2006/relationships/slideLayout" Target="/ppt/slideLayouts/slideLayout1.xml" Id="Rb62570f42fdc4c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2570f42fdc4c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9f2ea6831841d3" /><Relationship Type="http://schemas.openxmlformats.org/officeDocument/2006/relationships/notesSlide" Target="/ppt/notesSlides/notesSlide1.xml" Id="Ra1015b3fc9b1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3c085a17a54394" /><Relationship Type="http://schemas.openxmlformats.org/officeDocument/2006/relationships/notesSlide" Target="/ppt/notesSlides/notesSlide2.xml" Id="Ra58ca547c6d748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a844e12bb34a8b" /><Relationship Type="http://schemas.openxmlformats.org/officeDocument/2006/relationships/notesSlide" Target="/ppt/notesSlides/notesSlide3.xml" Id="R7760982531e449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4a5ff6a8a34225" /><Relationship Type="http://schemas.openxmlformats.org/officeDocument/2006/relationships/notesSlide" Target="/ppt/notesSlides/notesSlide4.xml" Id="R1232b760cf394b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3e652bf1824eff" /><Relationship Type="http://schemas.openxmlformats.org/officeDocument/2006/relationships/notesSlide" Target="/ppt/notesSlides/notesSlide5.xml" Id="R729a25dade6a4c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31c63b01c44688" /><Relationship Type="http://schemas.openxmlformats.org/officeDocument/2006/relationships/notesSlide" Target="/ppt/notesSlides/notesSlide6.xml" Id="Rf5ab94a288624a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bff4e284384dbc" /><Relationship Type="http://schemas.openxmlformats.org/officeDocument/2006/relationships/notesSlide" Target="/ppt/notesSlides/notesSlide7.xml" Id="R844ca1cce00e4f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aeffb6834d4c46" /><Relationship Type="http://schemas.openxmlformats.org/officeDocument/2006/relationships/notesSlide" Target="/ppt/notesSlides/notesSlide8.xml" Id="Rc37dc6fee84b4e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857e60ad6a4a1a" /><Relationship Type="http://schemas.openxmlformats.org/officeDocument/2006/relationships/notesSlide" Target="/ppt/notesSlides/notesSlide9.xml" Id="Rb5041a2e3c414a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2e6305e39e448b" /><Relationship Type="http://schemas.openxmlformats.org/officeDocument/2006/relationships/notesSlide" Target="/ppt/notesSlides/notesSlide10.xml" Id="R6013bbf511244429" /></Relationships>
</file>

<file path=ppt/slides/slide1.xml><?xml version="1.0" encoding="utf-8"?>
<p:sld xmlns:p="http://schemas.openxmlformats.org/presentationml/2006/main">
  <p:cSld>
    <p:bg>
      <p:bgPr>
        <a:solidFill xmlns:a="http://schemas.openxmlformats.org/drawingml/2006/main">
          <a:srgbClr val="142A3B"/>
        </a:solidFill>
      </p:bgPr>
    </p:bg>
    <p:spTree>
      <p:nvGrpSpPr>
        <p:cNvPr id="1" name=""/>
        <p:cNvGrpSpPr/>
        <p:nvPr/>
      </p:nvGrpSpPr>
      <p:grpSpPr>
        <a:xfrm xmlns:a="http://schemas.openxmlformats.org/drawingml/2006/main"/>
      </p:grpSpPr>
      <p:sp>
        <p:nvSpPr>
          <p:cNvPr id="6" name="PA1 / PROGRAMACIÓN ORIENTADA A OBJETOS">
            <a:extLst xmlns:a="http://schemas.openxmlformats.org/drawingml/2006/main">
              <a:ext uri="{FF2B5EF4-FFF2-40B4-BE49-F238E27FC236}">
                <a16:creationId xmlns:a16="http://schemas.microsoft.com/office/drawing/2014/main" id="{8467B69B-7621-4F7A-9C00-937CA0CC1976}"/>
              </a:ext>
            </a:extLst>
          </p:cNvPr>
          <p:cNvSpPr>
            <a:spLocks xmlns:a="http://schemas.openxmlformats.org/drawingml/2006/main" noGrp="1"/>
          </p:cNvSpPr>
          <p:nvPr/>
        </p:nvSpPr>
        <p:spPr>
          <a:xfrm xmlns:a="http://schemas.openxmlformats.org/drawingml/2006/main">
            <a:off x="609600" y="619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7AD1CA"/>
                </a:solidFill>
                <a:latin typeface="Arial"/>
                <a:ea typeface="Arial"/>
                <a:cs typeface="Arial"/>
              </a:defRPr>
            </a:pPr>
            <a:r>
              <a:rPr sz="1875" b="1">
                <a:solidFill>
                  <a:srgbClr val="7AD1CA"/>
                </a:solidFill>
                <a:latin typeface="Arial"/>
                <a:ea typeface="Arial"/>
                <a:cs typeface="Arial"/>
              </a:rPr>
              <a:t>PA1 / PROGRAMACIÓN ORIENTADA A OBJETOS</a:t>
            </a:r>
          </a:p>
        </p:txBody>
      </p:sp>
      <p:sp>
        <p:nvSpPr>
          <p:cNvPr id="2" name="Registro y control&#10;de productos">
            <a:extLst xmlns:a="http://schemas.openxmlformats.org/drawingml/2006/main">
              <a:ext uri="{FF2B5EF4-FFF2-40B4-BE49-F238E27FC236}">
                <a16:creationId xmlns:a16="http://schemas.microsoft.com/office/drawing/2014/main" id="{A70A5F92-822A-4859-B37E-BAFFEF26BC8C}"/>
              </a:ext>
            </a:extLst>
          </p:cNvPr>
          <p:cNvSpPr>
            <a:spLocks xmlns:a="http://schemas.openxmlformats.org/drawingml/2006/main" noGrp="1"/>
          </p:cNvSpPr>
          <p:nvPr/>
        </p:nvSpPr>
        <p:spPr>
          <a:xfrm xmlns:a="http://schemas.openxmlformats.org/drawingml/2006/main">
            <a:off x="609600" y="1428750"/>
            <a:ext cx="10972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Registro y control</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de productos</a:t>
            </a:r>
          </a:p>
        </p:txBody>
      </p:sp>
      <p:sp>
        <p:nvSpPr>
          <p:cNvPr id="3" name="Sistema en Java por consola">
            <a:extLst xmlns:a="http://schemas.openxmlformats.org/drawingml/2006/main">
              <a:ext uri="{FF2B5EF4-FFF2-40B4-BE49-F238E27FC236}">
                <a16:creationId xmlns:a16="http://schemas.microsoft.com/office/drawing/2014/main" id="{143D4645-0F95-4DEF-B198-7FCF80D6CA0D}"/>
              </a:ext>
            </a:extLst>
          </p:cNvPr>
          <p:cNvSpPr>
            <a:spLocks xmlns:a="http://schemas.openxmlformats.org/drawingml/2006/main" noGrp="1"/>
          </p:cNvSpPr>
          <p:nvPr/>
        </p:nvSpPr>
        <p:spPr>
          <a:xfrm xmlns:a="http://schemas.openxmlformats.org/drawingml/2006/main">
            <a:off x="609600" y="3448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BBDBDF"/>
                </a:solidFill>
                <a:latin typeface="Arial"/>
                <a:ea typeface="Arial"/>
                <a:cs typeface="Arial"/>
              </a:defRPr>
            </a:pPr>
            <a:r>
              <a:rPr sz="2400" b="0">
                <a:solidFill>
                  <a:srgbClr val="BBDBDF"/>
                </a:solidFill>
                <a:latin typeface="Arial"/>
                <a:ea typeface="Arial"/>
                <a:cs typeface="Arial"/>
              </a:rPr>
              <a:t>Sistema en Java por consola</a:t>
            </a:r>
          </a:p>
        </p:txBody>
      </p:sp>
      <p:sp>
        <p:nvSpPr>
          <p:cNvPr id="4" name="Angel Fernando Reyes Moreno&#10;Flor de Venu">
            <a:extLst xmlns:a="http://schemas.openxmlformats.org/drawingml/2006/main">
              <a:ext uri="{FF2B5EF4-FFF2-40B4-BE49-F238E27FC236}">
                <a16:creationId xmlns:a16="http://schemas.microsoft.com/office/drawing/2014/main" id="{2DFC36B2-000A-4FF1-AB64-2FF2420F835E}"/>
              </a:ext>
            </a:extLst>
          </p:cNvPr>
          <p:cNvSpPr>
            <a:spLocks xmlns:a="http://schemas.openxmlformats.org/drawingml/2006/main" noGrp="1"/>
          </p:cNvSpPr>
          <p:nvPr/>
        </p:nvSpPr>
        <p:spPr>
          <a:xfrm xmlns:a="http://schemas.openxmlformats.org/drawingml/2006/main">
            <a:off x="609600" y="4391025"/>
            <a:ext cx="109728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Angel Fernando Reyes Moreno</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Flor de Venus Torres Condori</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Donny Scrach Gaspar Araujo</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César Augusto MAGUIÑA ROBLES</a:t>
            </a:r>
          </a:p>
        </p:txBody>
      </p:sp>
      <p:sp>
        <p:nvSpPr>
          <p:cNvPr id="5" name="Curso 30626">
            <a:extLst xmlns:a="http://schemas.openxmlformats.org/drawingml/2006/main">
              <a:ext uri="{FF2B5EF4-FFF2-40B4-BE49-F238E27FC236}">
                <a16:creationId xmlns:a16="http://schemas.microsoft.com/office/drawing/2014/main" id="{FB068BB2-1CBE-4A6B-8B49-9DAD485FF1C2}"/>
              </a:ext>
            </a:extLst>
          </p:cNvPr>
          <p:cNvSpPr>
            <a:spLocks xmlns:a="http://schemas.openxmlformats.org/drawingml/2006/main" noGrp="1"/>
          </p:cNvSpPr>
          <p:nvPr/>
        </p:nvSpPr>
        <p:spPr>
          <a:xfrm xmlns:a="http://schemas.openxmlformats.org/drawingml/2006/main">
            <a:off x="609600" y="630555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BDBDF"/>
                </a:solidFill>
                <a:latin typeface="Arial"/>
                <a:ea typeface="Arial"/>
                <a:cs typeface="Arial"/>
              </a:defRPr>
            </a:pPr>
            <a:r>
              <a:rPr sz="1500" b="0">
                <a:solidFill>
                  <a:srgbClr val="BBDBDF"/>
                </a:solidFill>
                <a:latin typeface="Arial"/>
                <a:ea typeface="Arial"/>
                <a:cs typeface="Arial"/>
              </a:rPr>
              <a:t>Curso 30626</a:t>
            </a:r>
          </a:p>
        </p:txBody>
      </p:sp>
    </p:spTree>
    <p:extLst>
      <p:ext uri="{BB962C8B-B14F-4D97-AF65-F5344CB8AC3E}">
        <p14:creationId xmlns:p14="http://schemas.microsoft.com/office/powerpoint/2010/main" val="2006881013"/>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El caso de la microempresa">
            <a:extLst xmlns:a="http://schemas.openxmlformats.org/drawingml/2006/main">
              <a:ext uri="{FF2B5EF4-FFF2-40B4-BE49-F238E27FC236}">
                <a16:creationId xmlns:a16="http://schemas.microsoft.com/office/drawing/2014/main" id="{4A4E8558-3BD9-4E50-899D-5C6374C6F5B1}"/>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El caso de la microempresa</a:t>
            </a:r>
          </a:p>
        </p:txBody>
      </p:sp>
      <p:sp>
        <p:nvSpPr>
          <p:cNvPr id="2" name="Angel Fernando Reyes Moreno">
            <a:extLst xmlns:a="http://schemas.openxmlformats.org/drawingml/2006/main">
              <a:ext uri="{FF2B5EF4-FFF2-40B4-BE49-F238E27FC236}">
                <a16:creationId xmlns:a16="http://schemas.microsoft.com/office/drawing/2014/main" id="{10B9C555-24B4-4690-B5D9-33DB6ED7007A}"/>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Angel Fernando Reyes Moreno</a:t>
            </a:r>
          </a:p>
        </p:txBody>
      </p:sp>
      <p:sp>
        <p:nvSpPr>
          <p:cNvPr id="3" name="02">
            <a:extLst xmlns:a="http://schemas.openxmlformats.org/drawingml/2006/main">
              <a:ext uri="{FF2B5EF4-FFF2-40B4-BE49-F238E27FC236}">
                <a16:creationId xmlns:a16="http://schemas.microsoft.com/office/drawing/2014/main" id="{755BFAEB-8B38-45B1-A486-CB7FBCB78D98}"/>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02</a:t>
            </a:r>
          </a:p>
        </p:txBody>
      </p:sp>
      <p:sp>
        <p:nvSpPr>
          <p:cNvPr id="4" name="Una microempresa necesita conocer&#10;qué pr">
            <a:extLst xmlns:a="http://schemas.openxmlformats.org/drawingml/2006/main">
              <a:ext uri="{FF2B5EF4-FFF2-40B4-BE49-F238E27FC236}">
                <a16:creationId xmlns:a16="http://schemas.microsoft.com/office/drawing/2014/main" id="{8EAA004A-7C82-46E1-9A31-27D3A3A8BE65}"/>
              </a:ext>
            </a:extLst>
          </p:cNvPr>
          <p:cNvSpPr>
            <a:spLocks xmlns:a="http://schemas.openxmlformats.org/drawingml/2006/main" noGrp="1"/>
          </p:cNvSpPr>
          <p:nvPr/>
        </p:nvSpPr>
        <p:spPr>
          <a:xfrm xmlns:a="http://schemas.openxmlformats.org/drawingml/2006/main">
            <a:off x="609600" y="17526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142A3B"/>
                </a:solidFill>
                <a:latin typeface="Arial"/>
                <a:ea typeface="Arial"/>
                <a:cs typeface="Arial"/>
              </a:defRPr>
            </a:pPr>
            <a:r>
              <a:rPr sz="2775" b="1">
                <a:solidFill>
                  <a:srgbClr val="142A3B"/>
                </a:solidFill>
                <a:latin typeface="Arial"/>
                <a:ea typeface="Arial"/>
                <a:cs typeface="Arial"/>
              </a:rPr>
              <a:t>Una microempresa necesita conocer</a:t>
            </a:r>
          </a:p>
          <a:p xmlns:a="http://schemas.openxmlformats.org/drawingml/2006/main">
            <a:pPr>
              <a:defRPr sz="2775" b="1">
                <a:solidFill>
                  <a:srgbClr val="142A3B"/>
                </a:solidFill>
                <a:latin typeface="Arial"/>
                <a:ea typeface="Arial"/>
                <a:cs typeface="Arial"/>
              </a:defRPr>
            </a:pPr>
            <a:r>
              <a:rPr sz="2775" b="1">
                <a:solidFill>
                  <a:srgbClr val="142A3B"/>
                </a:solidFill>
                <a:latin typeface="Arial"/>
                <a:ea typeface="Arial"/>
                <a:cs typeface="Arial"/>
              </a:rPr>
              <a:t>qué productos tiene y cuánto stock conserva.</a:t>
            </a:r>
          </a:p>
        </p:txBody>
      </p:sp>
      <p:sp>
        <p:nvSpPr>
          <p:cNvPr id="5" name="Registrar y consultar productos&#10;Ingresar">
            <a:extLst xmlns:a="http://schemas.openxmlformats.org/drawingml/2006/main">
              <a:ext uri="{FF2B5EF4-FFF2-40B4-BE49-F238E27FC236}">
                <a16:creationId xmlns:a16="http://schemas.microsoft.com/office/drawing/2014/main" id="{91AA9061-30F5-434C-B6A8-8B34866819E5}"/>
              </a:ext>
            </a:extLst>
          </p:cNvPr>
          <p:cNvSpPr>
            <a:spLocks xmlns:a="http://schemas.openxmlformats.org/drawingml/2006/main" noGrp="1"/>
          </p:cNvSpPr>
          <p:nvPr/>
        </p:nvSpPr>
        <p:spPr>
          <a:xfrm xmlns:a="http://schemas.openxmlformats.org/drawingml/2006/main">
            <a:off x="609600" y="3209925"/>
            <a:ext cx="10858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42A3B"/>
                </a:solidFill>
                <a:latin typeface="Arial"/>
                <a:ea typeface="Arial"/>
                <a:cs typeface="Arial"/>
              </a:defRPr>
            </a:pPr>
            <a:r>
              <a:rPr sz="2475" b="0">
                <a:solidFill>
                  <a:srgbClr val="142A3B"/>
                </a:solidFill>
                <a:latin typeface="Arial"/>
                <a:ea typeface="Arial"/>
                <a:cs typeface="Arial"/>
              </a:rPr>
              <a:t>Registrar y consultar productos</a:t>
            </a:r>
          </a:p>
          <a:p xmlns:a="http://schemas.openxmlformats.org/drawingml/2006/main">
            <a:pPr>
              <a:defRPr sz="2475" b="0">
                <a:solidFill>
                  <a:srgbClr val="142A3B"/>
                </a:solidFill>
                <a:latin typeface="Arial"/>
                <a:ea typeface="Arial"/>
                <a:cs typeface="Arial"/>
              </a:defRPr>
            </a:pPr>
            <a:r>
              <a:rPr sz="2475" b="0">
                <a:solidFill>
                  <a:srgbClr val="142A3B"/>
                </a:solidFill>
                <a:latin typeface="Arial"/>
                <a:ea typeface="Arial"/>
                <a:cs typeface="Arial"/>
              </a:rPr>
              <a:t>Ingresar y retirar existencias</a:t>
            </a:r>
          </a:p>
          <a:p xmlns:a="http://schemas.openxmlformats.org/drawingml/2006/main">
            <a:pPr>
              <a:defRPr sz="2475" b="0">
                <a:solidFill>
                  <a:srgbClr val="142A3B"/>
                </a:solidFill>
                <a:latin typeface="Arial"/>
                <a:ea typeface="Arial"/>
                <a:cs typeface="Arial"/>
              </a:defRPr>
            </a:pPr>
            <a:r>
              <a:rPr sz="2475" b="0">
                <a:solidFill>
                  <a:srgbClr val="142A3B"/>
                </a:solidFill>
                <a:latin typeface="Arial"/>
                <a:ea typeface="Arial"/>
                <a:cs typeface="Arial"/>
              </a:rPr>
              <a:t>Identificar stock bajo y calcular totales</a:t>
            </a:r>
          </a:p>
        </p:txBody>
      </p:sp>
      <p:sp>
        <p:nvSpPr>
          <p:cNvPr id="6" name="Datos por artículo: código, nombre, prec">
            <a:extLst xmlns:a="http://schemas.openxmlformats.org/drawingml/2006/main">
              <a:ext uri="{FF2B5EF4-FFF2-40B4-BE49-F238E27FC236}">
                <a16:creationId xmlns:a16="http://schemas.microsoft.com/office/drawing/2014/main" id="{C8A70667-594C-4B68-ABBF-909EFD44139C}"/>
              </a:ext>
            </a:extLst>
          </p:cNvPr>
          <p:cNvSpPr>
            <a:spLocks xmlns:a="http://schemas.openxmlformats.org/drawingml/2006/main" noGrp="1"/>
          </p:cNvSpPr>
          <p:nvPr/>
        </p:nvSpPr>
        <p:spPr>
          <a:xfrm xmlns:a="http://schemas.openxmlformats.org/drawingml/2006/main">
            <a:off x="609600" y="53435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007D80"/>
                </a:solidFill>
                <a:latin typeface="Arial"/>
                <a:ea typeface="Arial"/>
                <a:cs typeface="Arial"/>
              </a:defRPr>
            </a:pPr>
            <a:r>
              <a:rPr sz="2025" b="0">
                <a:solidFill>
                  <a:srgbClr val="007D80"/>
                </a:solidFill>
                <a:latin typeface="Arial"/>
                <a:ea typeface="Arial"/>
                <a:cs typeface="Arial"/>
              </a:rPr>
              <a:t>Datos por artículo: código, nombre, precio, stock y mínimo.</a:t>
            </a:r>
          </a:p>
        </p:txBody>
      </p:sp>
    </p:spTree>
    <p:extLst>
      <p:ext uri="{BB962C8B-B14F-4D97-AF65-F5344CB8AC3E}">
        <p14:creationId xmlns:p14="http://schemas.microsoft.com/office/powerpoint/2010/main" val="363592476"/>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Organización en tres clases">
            <a:extLst xmlns:a="http://schemas.openxmlformats.org/drawingml/2006/main">
              <a:ext uri="{FF2B5EF4-FFF2-40B4-BE49-F238E27FC236}">
                <a16:creationId xmlns:a16="http://schemas.microsoft.com/office/drawing/2014/main" id="{20C060EB-62F5-4201-8850-1F8CF431D0A2}"/>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Organización en tres clases</a:t>
            </a:r>
          </a:p>
        </p:txBody>
      </p:sp>
      <p:sp>
        <p:nvSpPr>
          <p:cNvPr id="2" name="Angel Fernando Reyes Moreno">
            <a:extLst xmlns:a="http://schemas.openxmlformats.org/drawingml/2006/main">
              <a:ext uri="{FF2B5EF4-FFF2-40B4-BE49-F238E27FC236}">
                <a16:creationId xmlns:a16="http://schemas.microsoft.com/office/drawing/2014/main" id="{DD16C882-A2B3-476E-A8B3-CB1C3885FF9E}"/>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Angel Fernando Reyes Moreno</a:t>
            </a:r>
          </a:p>
        </p:txBody>
      </p:sp>
      <p:sp>
        <p:nvSpPr>
          <p:cNvPr id="3" name="03">
            <a:extLst xmlns:a="http://schemas.openxmlformats.org/drawingml/2006/main">
              <a:ext uri="{FF2B5EF4-FFF2-40B4-BE49-F238E27FC236}">
                <a16:creationId xmlns:a16="http://schemas.microsoft.com/office/drawing/2014/main" id="{135103C6-47FF-4B64-8B6C-2F2206FB4B1B}"/>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03</a:t>
            </a:r>
          </a:p>
        </p:txBody>
      </p:sp>
      <p:graphicFrame>
        <p:nvGraphicFramePr>
          <p:cNvPr id="9" name=""/>
          <p:cNvGraphicFramePr/>
          <p:nvPr/>
        </p:nvGraphicFramePr>
        <p:xfrm>
          <a:off xmlns:a="http://schemas.openxmlformats.org/drawingml/2006/main" x="609600" y="1762125"/>
          <a:ext xmlns:a="http://schemas.openxmlformats.org/drawingml/2006/main" cx="10972800" cy="3352800"/>
        </p:xfrm>
        <a:graphic xmlns:a="http://schemas.openxmlformats.org/drawingml/2006/main">
          <a:graphicData uri="http://schemas.openxmlformats.org/drawingml/2006/table">
            <a:tbl>
              <a:tblPr/>
              <a:tblGrid>
                <a:gridCol w="2809875"/>
                <a:gridCol w="8162925"/>
              </a:tblGrid>
              <a:tr h="838200">
                <a:tc>
                  <a:txBody>
                    <a:bodyPr/>
                    <a:lstStyle/>
                    <a:p>
                      <a:r>
                        <a:rPr sz="2175" b="1">
                          <a:solidFill>
                            <a:srgbClr val="FFFFFF"/>
                          </a:solidFill>
                          <a:latin typeface="Arial"/>
                          <a:ea typeface="Arial"/>
                          <a:cs typeface="Arial"/>
                        </a:rPr>
                        <a:t>Clase</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Responsabilidad</a:t>
                      </a:r>
                    </a:p>
                  </a:txBody>
                  <a:tcPr marL="152400" marR="152400" marT="114300" marB="114300" anchor="ctr">
                    <a:solidFill>
                      <a:srgbClr val="142A3B"/>
                    </a:solidFill>
                  </a:tcPr>
                </a:tc>
              </a:tr>
              <a:tr h="838200">
                <a:tc>
                  <a:txBody>
                    <a:bodyPr/>
                    <a:lstStyle/>
                    <a:p>
                      <a:r>
                        <a:rPr sz="2175" b="0">
                          <a:solidFill>
                            <a:srgbClr val="142A3B"/>
                          </a:solidFill>
                          <a:latin typeface="Arial"/>
                          <a:ea typeface="Arial"/>
                          <a:cs typeface="Arial"/>
                        </a:rPr>
                        <a:t>Producto</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Datos y operaciones de un artículo</a:t>
                      </a:r>
                    </a:p>
                  </a:txBody>
                  <a:tcPr marL="152400" marR="152400" marT="114300" marB="114300" anchor="ctr">
                    <a:solidFill>
                      <a:srgbClr val="FFFFFF"/>
                    </a:solidFill>
                  </a:tcPr>
                </a:tc>
              </a:tr>
              <a:tr h="838200">
                <a:tc>
                  <a:txBody>
                    <a:bodyPr/>
                    <a:lstStyle/>
                    <a:p>
                      <a:r>
                        <a:rPr sz="2175" b="0">
                          <a:solidFill>
                            <a:srgbClr val="142A3B"/>
                          </a:solidFill>
                          <a:latin typeface="Arial"/>
                          <a:ea typeface="Arial"/>
                          <a:cs typeface="Arial"/>
                        </a:rPr>
                        <a:t>Inventario</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Registro, búsqueda y totales</a:t>
                      </a:r>
                    </a:p>
                  </a:txBody>
                  <a:tcPr marL="152400" marR="152400" marT="114300" marB="114300" anchor="ctr">
                    <a:solidFill>
                      <a:srgbClr val="ECF3F2"/>
                    </a:solidFill>
                  </a:tcPr>
                </a:tc>
              </a:tr>
              <a:tr h="838200">
                <a:tc>
                  <a:txBody>
                    <a:bodyPr/>
                    <a:lstStyle/>
                    <a:p>
                      <a:r>
                        <a:rPr sz="2175" b="0">
                          <a:solidFill>
                            <a:srgbClr val="142A3B"/>
                          </a:solidFill>
                          <a:latin typeface="Arial"/>
                          <a:ea typeface="Arial"/>
                          <a:cs typeface="Arial"/>
                        </a:rPr>
                        <a:t>Aplicacion</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main, menú y lectura de entradas</a:t>
                      </a:r>
                    </a:p>
                  </a:txBody>
                  <a:tcPr marL="152400" marR="152400" marT="114300" marB="114300" anchor="ctr">
                    <a:solidFill>
                      <a:srgbClr val="FFFFFF"/>
                    </a:solidFill>
                  </a:tcPr>
                </a:tc>
              </a:tr>
            </a:tbl>
          </a:graphicData>
        </a:graphic>
      </p:graphicFrame>
      <p:sp>
        <p:nvSpPr>
          <p:cNvPr id="5" name="Arroz A01 y Aceite B01 son dos objetos d">
            <a:extLst xmlns:a="http://schemas.openxmlformats.org/drawingml/2006/main">
              <a:ext uri="{FF2B5EF4-FFF2-40B4-BE49-F238E27FC236}">
                <a16:creationId xmlns:a16="http://schemas.microsoft.com/office/drawing/2014/main" id="{EE422C17-B82F-4947-A646-85A894A34C35}"/>
              </a:ext>
            </a:extLst>
          </p:cNvPr>
          <p:cNvSpPr>
            <a:spLocks xmlns:a="http://schemas.openxmlformats.org/drawingml/2006/main" noGrp="1"/>
          </p:cNvSpPr>
          <p:nvPr/>
        </p:nvSpPr>
        <p:spPr>
          <a:xfrm xmlns:a="http://schemas.openxmlformats.org/drawingml/2006/main">
            <a:off x="609600" y="54483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7D80"/>
                </a:solidFill>
                <a:latin typeface="Arial"/>
                <a:ea typeface="Arial"/>
                <a:cs typeface="Arial"/>
              </a:defRPr>
            </a:pPr>
            <a:r>
              <a:rPr sz="2175" b="0">
                <a:solidFill>
                  <a:srgbClr val="007D80"/>
                </a:solidFill>
                <a:latin typeface="Arial"/>
                <a:ea typeface="Arial"/>
                <a:cs typeface="Arial"/>
              </a:rPr>
              <a:t>Arroz A01 y Aceite B01 son dos objetos de la clase Producto.</a:t>
            </a:r>
          </a:p>
        </p:txBody>
      </p:sp>
    </p:spTree>
    <p:extLst>
      <p:ext uri="{BB962C8B-B14F-4D97-AF65-F5344CB8AC3E}">
        <p14:creationId xmlns:p14="http://schemas.microsoft.com/office/powerpoint/2010/main" val="2085783867"/>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Atributos y constructor">
            <a:extLst xmlns:a="http://schemas.openxmlformats.org/drawingml/2006/main">
              <a:ext uri="{FF2B5EF4-FFF2-40B4-BE49-F238E27FC236}">
                <a16:creationId xmlns:a16="http://schemas.microsoft.com/office/drawing/2014/main" id="{9F9CA7EB-F351-46F5-8C8C-08CEBB098E9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Atributos y constructor</a:t>
            </a:r>
          </a:p>
        </p:txBody>
      </p:sp>
      <p:sp>
        <p:nvSpPr>
          <p:cNvPr id="2" name="Flor de Venus Torres Condori">
            <a:extLst xmlns:a="http://schemas.openxmlformats.org/drawingml/2006/main">
              <a:ext uri="{FF2B5EF4-FFF2-40B4-BE49-F238E27FC236}">
                <a16:creationId xmlns:a16="http://schemas.microsoft.com/office/drawing/2014/main" id="{557A30E7-0378-4616-8965-A6E5D0F8521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Flor de Venus Torres Condori</a:t>
            </a:r>
          </a:p>
        </p:txBody>
      </p:sp>
      <p:sp>
        <p:nvSpPr>
          <p:cNvPr id="3" name="04">
            <a:extLst xmlns:a="http://schemas.openxmlformats.org/drawingml/2006/main">
              <a:ext uri="{FF2B5EF4-FFF2-40B4-BE49-F238E27FC236}">
                <a16:creationId xmlns:a16="http://schemas.microsoft.com/office/drawing/2014/main" id="{FFF5CC48-4688-4B95-8EF0-80849E1291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04</a:t>
            </a:r>
          </a:p>
        </p:txBody>
      </p:sp>
      <p:sp>
        <p:nvSpPr>
          <p:cNvPr id="4" name="Cada objeto tiene sus propios datos">
            <a:extLst xmlns:a="http://schemas.openxmlformats.org/drawingml/2006/main">
              <a:ext uri="{FF2B5EF4-FFF2-40B4-BE49-F238E27FC236}">
                <a16:creationId xmlns:a16="http://schemas.microsoft.com/office/drawing/2014/main" id="{548C6EBB-E794-465F-9BC2-D9A5DD6F2561}"/>
              </a:ext>
            </a:extLst>
          </p:cNvPr>
          <p:cNvSpPr>
            <a:spLocks xmlns:a="http://schemas.openxmlformats.org/drawingml/2006/main" noGrp="1"/>
          </p:cNvSpPr>
          <p:nvPr/>
        </p:nvSpPr>
        <p:spPr>
          <a:xfrm xmlns:a="http://schemas.openxmlformats.org/drawingml/2006/main">
            <a:off x="609600" y="1581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07D80"/>
                </a:solidFill>
                <a:latin typeface="Arial"/>
                <a:ea typeface="Arial"/>
                <a:cs typeface="Arial"/>
              </a:defRPr>
            </a:pPr>
            <a:r>
              <a:rPr sz="2250" b="1">
                <a:solidFill>
                  <a:srgbClr val="007D80"/>
                </a:solidFill>
                <a:latin typeface="Arial"/>
                <a:ea typeface="Arial"/>
                <a:cs typeface="Arial"/>
              </a:rPr>
              <a:t>Cada objeto tiene sus propios datos</a:t>
            </a:r>
          </a:p>
        </p:txBody>
      </p:sp>
      <p:sp>
        <p:nvSpPr>
          <p:cNvPr id="5" name="private double precio;&#10;private int stock">
            <a:extLst xmlns:a="http://schemas.openxmlformats.org/drawingml/2006/main">
              <a:ext uri="{FF2B5EF4-FFF2-40B4-BE49-F238E27FC236}">
                <a16:creationId xmlns:a16="http://schemas.microsoft.com/office/drawing/2014/main" id="{959A433D-FABE-42C3-9C83-0D9DFAF86266}"/>
              </a:ext>
            </a:extLst>
          </p:cNvPr>
          <p:cNvSpPr>
            <a:spLocks xmlns:a="http://schemas.openxmlformats.org/drawingml/2006/main" noGrp="1"/>
          </p:cNvSpPr>
          <p:nvPr/>
        </p:nvSpPr>
        <p:spPr>
          <a:xfrm xmlns:a="http://schemas.openxmlformats.org/drawingml/2006/main">
            <a:off x="609600" y="2247900"/>
            <a:ext cx="109728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A3B"/>
                </a:solidFill>
                <a:latin typeface="Consolas"/>
                <a:ea typeface="Consolas"/>
                <a:cs typeface="Consolas"/>
              </a:defRPr>
            </a:pPr>
            <a:r>
              <a:rPr sz="2100" b="0">
                <a:solidFill>
                  <a:srgbClr val="142A3B"/>
                </a:solidFill>
                <a:latin typeface="Consolas"/>
                <a:ea typeface="Consolas"/>
                <a:cs typeface="Consolas"/>
              </a:rPr>
              <a:t>private double precio;</a:t>
            </a:r>
          </a:p>
          <a:p xmlns:a="http://schemas.openxmlformats.org/drawingml/2006/main">
            <a:pPr>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a:t>
            </a:r>
          </a:p>
          <a:p xmlns:a="http://schemas.openxmlformats.org/drawingml/2006/main">
            <a:pPr>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stockMinimo;</a:t>
            </a:r>
          </a:p>
          <a:p xmlns:a="http://schemas.openxmlformats.org/drawingml/2006/main">
            <a:r>
              <a:t/>
            </a:r>
          </a:p>
          <a:p xmlns:a="http://schemas.openxmlformats.org/drawingml/2006/main">
            <a:pPr>
              <a:defRPr sz="2100" b="0">
                <a:solidFill>
                  <a:srgbClr val="142A3B"/>
                </a:solidFill>
                <a:latin typeface="Consolas"/>
                <a:ea typeface="Consolas"/>
                <a:cs typeface="Consolas"/>
              </a:defRPr>
            </a:pPr>
            <a:r>
              <a:rPr sz="2100" b="0">
                <a:solidFill>
                  <a:srgbClr val="142A3B"/>
                </a:solidFill>
                <a:latin typeface="Consolas"/>
                <a:ea typeface="Consolas"/>
                <a:cs typeface="Consolas"/>
              </a:rPr>
              <a:t>public Producto(String codigo, String nombre,</a:t>
            </a:r>
          </a:p>
          <a:p xmlns:a="http://schemas.openxmlformats.org/drawingml/2006/main">
            <a:pPr>
              <a:defRPr sz="2100" b="0">
                <a:solidFill>
                  <a:srgbClr val="142A3B"/>
                </a:solidFill>
                <a:latin typeface="Consolas"/>
                <a:ea typeface="Consolas"/>
                <a:cs typeface="Consolas"/>
              </a:defRPr>
            </a:pPr>
            <a:r>
              <a:rPr sz="2100" b="0">
                <a:solidFill>
                  <a:srgbClr val="142A3B"/>
                </a:solidFill>
                <a:latin typeface="Consolas"/>
                <a:ea typeface="Consolas"/>
                <a:cs typeface="Consolas"/>
              </a:rPr>
              <a:t>        double precio, int stock, int stockMinimo)</a:t>
            </a:r>
          </a:p>
        </p:txBody>
      </p:sp>
      <p:sp>
        <p:nvSpPr>
          <p:cNvPr id="6" name="mostrarInformacion()    realiza una acci">
            <a:extLst xmlns:a="http://schemas.openxmlformats.org/drawingml/2006/main">
              <a:ext uri="{FF2B5EF4-FFF2-40B4-BE49-F238E27FC236}">
                <a16:creationId xmlns:a16="http://schemas.microsoft.com/office/drawing/2014/main" id="{B0456A46-5C60-40E7-A43C-90192830CC2B}"/>
              </a:ext>
            </a:extLst>
          </p:cNvPr>
          <p:cNvSpPr>
            <a:spLocks xmlns:a="http://schemas.openxmlformats.org/drawingml/2006/main" noGrp="1"/>
          </p:cNvSpPr>
          <p:nvPr/>
        </p:nvSpPr>
        <p:spPr>
          <a:xfrm xmlns:a="http://schemas.openxmlformats.org/drawingml/2006/main">
            <a:off x="609600" y="499110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A3B"/>
                </a:solidFill>
                <a:latin typeface="Arial"/>
                <a:ea typeface="Arial"/>
                <a:cs typeface="Arial"/>
              </a:defRPr>
            </a:pPr>
            <a:r>
              <a:rPr sz="2100" b="0">
                <a:solidFill>
                  <a:srgbClr val="142A3B"/>
                </a:solidFill>
                <a:latin typeface="Arial"/>
                <a:ea typeface="Arial"/>
                <a:cs typeface="Arial"/>
              </a:rPr>
              <a:t>mostrarInformacion()    realiza una acción (void)</a:t>
            </a:r>
          </a:p>
          <a:p xmlns:a="http://schemas.openxmlformats.org/drawingml/2006/main">
            <a:pPr>
              <a:defRPr sz="2100" b="0">
                <a:solidFill>
                  <a:srgbClr val="142A3B"/>
                </a:solidFill>
                <a:latin typeface="Arial"/>
                <a:ea typeface="Arial"/>
                <a:cs typeface="Arial"/>
              </a:defRPr>
            </a:pPr>
            <a:r>
              <a:rPr sz="2100" b="0">
                <a:solidFill>
                  <a:srgbClr val="142A3B"/>
                </a:solidFill>
                <a:latin typeface="Arial"/>
                <a:ea typeface="Arial"/>
                <a:cs typeface="Arial"/>
              </a:rPr>
              <a:t>calcularValorStock()       devuelve un valor (double)</a:t>
            </a:r>
          </a:p>
        </p:txBody>
      </p:sp>
    </p:spTree>
    <p:extLst>
      <p:ext uri="{BB962C8B-B14F-4D97-AF65-F5344CB8AC3E}">
        <p14:creationId xmlns:p14="http://schemas.microsoft.com/office/powerpoint/2010/main" val="2040468767"/>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Contadores y acumuladores">
            <a:extLst xmlns:a="http://schemas.openxmlformats.org/drawingml/2006/main">
              <a:ext uri="{FF2B5EF4-FFF2-40B4-BE49-F238E27FC236}">
                <a16:creationId xmlns:a16="http://schemas.microsoft.com/office/drawing/2014/main" id="{1C101A47-BDF0-48E7-A6AA-A8BFB8313F0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Contadores y acumuladores</a:t>
            </a:r>
          </a:p>
        </p:txBody>
      </p:sp>
      <p:sp>
        <p:nvSpPr>
          <p:cNvPr id="2" name="Flor de Venus Torres Condori">
            <a:extLst xmlns:a="http://schemas.openxmlformats.org/drawingml/2006/main">
              <a:ext uri="{FF2B5EF4-FFF2-40B4-BE49-F238E27FC236}">
                <a16:creationId xmlns:a16="http://schemas.microsoft.com/office/drawing/2014/main" id="{D5ED0CFD-7FC2-44BF-8D5B-CD0A59D077EF}"/>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Flor de Venus Torres Condori</a:t>
            </a:r>
          </a:p>
        </p:txBody>
      </p:sp>
      <p:sp>
        <p:nvSpPr>
          <p:cNvPr id="3" name="05">
            <a:extLst xmlns:a="http://schemas.openxmlformats.org/drawingml/2006/main">
              <a:ext uri="{FF2B5EF4-FFF2-40B4-BE49-F238E27FC236}">
                <a16:creationId xmlns:a16="http://schemas.microsoft.com/office/drawing/2014/main" id="{9F20C14E-33C7-42F7-AD7B-4AFEA1BA31D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05</a:t>
            </a:r>
          </a:p>
        </p:txBody>
      </p:sp>
      <p:sp>
        <p:nvSpPr>
          <p:cNvPr id="4" name="100 productos como máximo en un arreglo ">
            <a:extLst xmlns:a="http://schemas.openxmlformats.org/drawingml/2006/main">
              <a:ext uri="{FF2B5EF4-FFF2-40B4-BE49-F238E27FC236}">
                <a16:creationId xmlns:a16="http://schemas.microsoft.com/office/drawing/2014/main" id="{446478A0-C617-44AD-B14F-4D256C32F8B0}"/>
              </a:ext>
            </a:extLst>
          </p:cNvPr>
          <p:cNvSpPr>
            <a:spLocks xmlns:a="http://schemas.openxmlformats.org/drawingml/2006/main" noGrp="1"/>
          </p:cNvSpPr>
          <p:nvPr/>
        </p:nvSpPr>
        <p:spPr>
          <a:xfrm xmlns:a="http://schemas.openxmlformats.org/drawingml/2006/main">
            <a:off x="609600" y="16383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D80"/>
                </a:solidFill>
                <a:latin typeface="Arial"/>
                <a:ea typeface="Arial"/>
                <a:cs typeface="Arial"/>
              </a:defRPr>
            </a:pPr>
            <a:r>
              <a:rPr sz="2550" b="1">
                <a:solidFill>
                  <a:srgbClr val="007D80"/>
                </a:solidFill>
                <a:latin typeface="Arial"/>
                <a:ea typeface="Arial"/>
                <a:cs typeface="Arial"/>
              </a:rPr>
              <a:t>100 productos como máximo en un arreglo fijo</a:t>
            </a:r>
          </a:p>
        </p:txBody>
      </p:sp>
      <p:sp>
        <p:nvSpPr>
          <p:cNvPr id="5" name="cantidad++;">
            <a:extLst xmlns:a="http://schemas.openxmlformats.org/drawingml/2006/main">
              <a:ext uri="{FF2B5EF4-FFF2-40B4-BE49-F238E27FC236}">
                <a16:creationId xmlns:a16="http://schemas.microsoft.com/office/drawing/2014/main" id="{6FD65D05-17E6-47ED-84EA-73D95F32C36E}"/>
              </a:ext>
            </a:extLst>
          </p:cNvPr>
          <p:cNvSpPr>
            <a:spLocks xmlns:a="http://schemas.openxmlformats.org/drawingml/2006/main" noGrp="1"/>
          </p:cNvSpPr>
          <p:nvPr/>
        </p:nvSpPr>
        <p:spPr>
          <a:xfrm xmlns:a="http://schemas.openxmlformats.org/drawingml/2006/main">
            <a:off x="609600" y="24193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2A3B"/>
                </a:solidFill>
                <a:latin typeface="Consolas"/>
                <a:ea typeface="Consolas"/>
                <a:cs typeface="Consolas"/>
              </a:defRPr>
            </a:pPr>
            <a:r>
              <a:rPr sz="2625" b="1">
                <a:solidFill>
                  <a:srgbClr val="142A3B"/>
                </a:solidFill>
                <a:latin typeface="Consolas"/>
                <a:ea typeface="Consolas"/>
                <a:cs typeface="Consolas"/>
              </a:rPr>
              <a:t>cantidad++;</a:t>
            </a:r>
          </a:p>
        </p:txBody>
      </p:sp>
      <p:sp>
        <p:nvSpPr>
          <p:cNvPr id="6" name="Contador: aumenta una vez por cada regis">
            <a:extLst xmlns:a="http://schemas.openxmlformats.org/drawingml/2006/main">
              <a:ext uri="{FF2B5EF4-FFF2-40B4-BE49-F238E27FC236}">
                <a16:creationId xmlns:a16="http://schemas.microsoft.com/office/drawing/2014/main" id="{E7FAA985-B654-4E54-9FB8-739374D43A0D}"/>
              </a:ext>
            </a:extLst>
          </p:cNvPr>
          <p:cNvSpPr>
            <a:spLocks xmlns:a="http://schemas.openxmlformats.org/drawingml/2006/main" noGrp="1"/>
          </p:cNvSpPr>
          <p:nvPr/>
        </p:nvSpPr>
        <p:spPr>
          <a:xfrm xmlns:a="http://schemas.openxmlformats.org/drawingml/2006/main">
            <a:off x="609600" y="30289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52616B"/>
                </a:solidFill>
                <a:latin typeface="Arial"/>
                <a:ea typeface="Arial"/>
                <a:cs typeface="Arial"/>
              </a:defRPr>
            </a:pPr>
            <a:r>
              <a:rPr sz="2100" b="0">
                <a:solidFill>
                  <a:srgbClr val="52616B"/>
                </a:solidFill>
                <a:latin typeface="Arial"/>
                <a:ea typeface="Arial"/>
                <a:cs typeface="Arial"/>
              </a:rPr>
              <a:t>Contador: aumenta una vez por cada registro válido.</a:t>
            </a:r>
          </a:p>
        </p:txBody>
      </p:sp>
      <p:sp>
        <p:nvSpPr>
          <p:cNvPr id="7" name="for (int i = 0; i &lt; cantidad; i++) {&#10;   ">
            <a:extLst xmlns:a="http://schemas.openxmlformats.org/drawingml/2006/main">
              <a:ext uri="{FF2B5EF4-FFF2-40B4-BE49-F238E27FC236}">
                <a16:creationId xmlns:a16="http://schemas.microsoft.com/office/drawing/2014/main" id="{6A2816CF-C90F-4EE0-ADBA-3986A1921D94}"/>
              </a:ext>
            </a:extLst>
          </p:cNvPr>
          <p:cNvSpPr>
            <a:spLocks xmlns:a="http://schemas.openxmlformats.org/drawingml/2006/main" noGrp="1"/>
          </p:cNvSpPr>
          <p:nvPr/>
        </p:nvSpPr>
        <p:spPr>
          <a:xfrm xmlns:a="http://schemas.openxmlformats.org/drawingml/2006/main">
            <a:off x="609600" y="39052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for (int i = 0; i &lt; cantidad; i++) {</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unidades += productos[i].getStock();</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8" name="Acumulador: suma las unidades de todos l">
            <a:extLst xmlns:a="http://schemas.openxmlformats.org/drawingml/2006/main">
              <a:ext uri="{FF2B5EF4-FFF2-40B4-BE49-F238E27FC236}">
                <a16:creationId xmlns:a16="http://schemas.microsoft.com/office/drawing/2014/main" id="{5BDDE67D-F735-4DA2-8848-DE2513EE1895}"/>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007D80"/>
                </a:solidFill>
                <a:latin typeface="Arial"/>
                <a:ea typeface="Arial"/>
                <a:cs typeface="Arial"/>
              </a:defRPr>
            </a:pPr>
            <a:r>
              <a:rPr sz="2100" b="0">
                <a:solidFill>
                  <a:srgbClr val="007D80"/>
                </a:solidFill>
                <a:latin typeface="Arial"/>
                <a:ea typeface="Arial"/>
                <a:cs typeface="Arial"/>
              </a:rPr>
              <a:t>Acumulador: suma las unidades de todos los productos.</a:t>
            </a:r>
          </a:p>
        </p:txBody>
      </p:sp>
    </p:spTree>
    <p:extLst>
      <p:ext uri="{BB962C8B-B14F-4D97-AF65-F5344CB8AC3E}">
        <p14:creationId xmlns:p14="http://schemas.microsoft.com/office/powerpoint/2010/main" val="633136960"/>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El flujo del menú">
            <a:extLst xmlns:a="http://schemas.openxmlformats.org/drawingml/2006/main">
              <a:ext uri="{FF2B5EF4-FFF2-40B4-BE49-F238E27FC236}">
                <a16:creationId xmlns:a16="http://schemas.microsoft.com/office/drawing/2014/main" id="{CFD56280-AE13-4ED4-84B6-A7539A674BD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El flujo del menú</a:t>
            </a:r>
          </a:p>
        </p:txBody>
      </p:sp>
      <p:sp>
        <p:nvSpPr>
          <p:cNvPr id="2" name="Donny Scrach Gaspar Araujo">
            <a:extLst xmlns:a="http://schemas.openxmlformats.org/drawingml/2006/main">
              <a:ext uri="{FF2B5EF4-FFF2-40B4-BE49-F238E27FC236}">
                <a16:creationId xmlns:a16="http://schemas.microsoft.com/office/drawing/2014/main" id="{F8A9B4B4-CD6E-458E-AE62-1B932B9EE01D}"/>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Donny Scrach Gaspar Araujo</a:t>
            </a:r>
          </a:p>
        </p:txBody>
      </p:sp>
      <p:sp>
        <p:nvSpPr>
          <p:cNvPr id="3" name="06">
            <a:extLst xmlns:a="http://schemas.openxmlformats.org/drawingml/2006/main">
              <a:ext uri="{FF2B5EF4-FFF2-40B4-BE49-F238E27FC236}">
                <a16:creationId xmlns:a16="http://schemas.microsoft.com/office/drawing/2014/main" id="{1B33674F-1DA5-45D6-8787-85DE83E120BF}"/>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06</a:t>
            </a:r>
          </a:p>
        </p:txBody>
      </p:sp>
      <p:graphicFrame>
        <p:nvGraphicFramePr>
          <p:cNvPr id="8" name=""/>
          <p:cNvGraphicFramePr/>
          <p:nvPr/>
        </p:nvGraphicFramePr>
        <p:xfrm>
          <a:off xmlns:a="http://schemas.openxmlformats.org/drawingml/2006/main" x="609600" y="1638300"/>
          <a:ext xmlns:a="http://schemas.openxmlformats.org/drawingml/2006/main" cx="10972800" cy="4229100"/>
        </p:xfrm>
        <a:graphic xmlns:a="http://schemas.openxmlformats.org/drawingml/2006/main">
          <a:graphicData uri="http://schemas.openxmlformats.org/drawingml/2006/table">
            <a:tbl>
              <a:tblPr/>
              <a:tblGrid>
                <a:gridCol w="2714625"/>
                <a:gridCol w="8258175"/>
              </a:tblGrid>
              <a:tr h="704850">
                <a:tc>
                  <a:txBody>
                    <a:bodyPr/>
                    <a:lstStyle/>
                    <a:p>
                      <a:r>
                        <a:rPr sz="2025" b="1">
                          <a:solidFill>
                            <a:srgbClr val="FFFFFF"/>
                          </a:solidFill>
                          <a:latin typeface="Arial"/>
                          <a:ea typeface="Arial"/>
                          <a:cs typeface="Arial"/>
                        </a:rPr>
                        <a:t>Estructura</a:t>
                      </a:r>
                    </a:p>
                  </a:txBody>
                  <a:tcPr marL="152400" marR="152400" marT="114300" marB="114300" anchor="ctr">
                    <a:solidFill>
                      <a:srgbClr val="142A3B"/>
                    </a:solidFill>
                  </a:tcPr>
                </a:tc>
                <a:tc>
                  <a:txBody>
                    <a:bodyPr/>
                    <a:lstStyle/>
                    <a:p>
                      <a:r>
                        <a:rPr sz="2025" b="1">
                          <a:solidFill>
                            <a:srgbClr val="FFFFFF"/>
                          </a:solidFill>
                          <a:latin typeface="Arial"/>
                          <a:ea typeface="Arial"/>
                          <a:cs typeface="Arial"/>
                        </a:rPr>
                        <a:t>Uso en el programa</a:t>
                      </a:r>
                    </a:p>
                  </a:txBody>
                  <a:tcPr marL="152400" marR="152400" marT="114300" marB="114300" anchor="ctr">
                    <a:solidFill>
                      <a:srgbClr val="142A3B"/>
                    </a:solidFill>
                  </a:tcPr>
                </a:tc>
              </a:tr>
              <a:tr h="704850">
                <a:tc>
                  <a:txBody>
                    <a:bodyPr/>
                    <a:lstStyle/>
                    <a:p>
                      <a:r>
                        <a:rPr sz="2025" b="0">
                          <a:solidFill>
                            <a:srgbClr val="142A3B"/>
                          </a:solidFill>
                          <a:latin typeface="Arial"/>
                          <a:ea typeface="Arial"/>
                          <a:cs typeface="Arial"/>
                        </a:rPr>
                        <a:t>do 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Repetir el menú hasta salir</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switch</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Ejecutar la opción seleccionada</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Solicitar nuevamente una entrada inválida</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if / if-else</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Aceptar o rechazar operaciones</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for</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Recorrer los productos registrados</a:t>
                      </a:r>
                    </a:p>
                  </a:txBody>
                  <a:tcPr marL="152400" marR="152400" marT="114300" marB="114300" anchor="ctr">
                    <a:solidFill>
                      <a:srgbClr val="FFFFFF"/>
                    </a:solidFill>
                  </a:tcPr>
                </a:tc>
              </a:tr>
            </a:tbl>
          </a:graphicData>
        </a:graphic>
      </p:graphicFrame>
    </p:spTree>
    <p:extLst>
      <p:ext uri="{BB962C8B-B14F-4D97-AF65-F5344CB8AC3E}">
        <p14:creationId xmlns:p14="http://schemas.microsoft.com/office/powerpoint/2010/main" val="57084850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Demostración del inventario">
            <a:extLst xmlns:a="http://schemas.openxmlformats.org/drawingml/2006/main">
              <a:ext uri="{FF2B5EF4-FFF2-40B4-BE49-F238E27FC236}">
                <a16:creationId xmlns:a16="http://schemas.microsoft.com/office/drawing/2014/main" id="{E29E6DEE-488D-49F1-A70D-1B1EE50E57EA}"/>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Demostración del inventario</a:t>
            </a:r>
          </a:p>
        </p:txBody>
      </p:sp>
      <p:sp>
        <p:nvSpPr>
          <p:cNvPr id="2" name="Donny Scrach Gaspar Araujo">
            <a:extLst xmlns:a="http://schemas.openxmlformats.org/drawingml/2006/main">
              <a:ext uri="{FF2B5EF4-FFF2-40B4-BE49-F238E27FC236}">
                <a16:creationId xmlns:a16="http://schemas.microsoft.com/office/drawing/2014/main" id="{9BEBE0C5-D197-4F52-BBC3-DF5D66F612F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Donny Scrach Gaspar Araujo</a:t>
            </a:r>
          </a:p>
        </p:txBody>
      </p:sp>
      <p:sp>
        <p:nvSpPr>
          <p:cNvPr id="3" name="07">
            <a:extLst xmlns:a="http://schemas.openxmlformats.org/drawingml/2006/main">
              <a:ext uri="{FF2B5EF4-FFF2-40B4-BE49-F238E27FC236}">
                <a16:creationId xmlns:a16="http://schemas.microsoft.com/office/drawing/2014/main" id="{A6619E75-298D-4198-A139-0504F298BE6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07</a:t>
            </a:r>
          </a:p>
        </p:txBody>
      </p:sp>
      <p:graphicFrame>
        <p:nvGraphicFramePr>
          <p:cNvPr id="10" name=""/>
          <p:cNvGraphicFramePr/>
          <p:nvPr/>
        </p:nvGraphicFramePr>
        <p:xfrm>
          <a:off xmlns:a="http://schemas.openxmlformats.org/drawingml/2006/main" x="609600" y="1733550"/>
          <a:ext xmlns:a="http://schemas.openxmlformats.org/drawingml/2006/main" cx="10972800" cy="2571750"/>
        </p:xfrm>
        <a:graphic xmlns:a="http://schemas.openxmlformats.org/drawingml/2006/main">
          <a:graphicData uri="http://schemas.openxmlformats.org/drawingml/2006/table">
            <a:tbl>
              <a:tblPr/>
              <a:tblGrid>
                <a:gridCol w="4095750"/>
                <a:gridCol w="2209800"/>
                <a:gridCol w="2333625"/>
                <a:gridCol w="2333625"/>
              </a:tblGrid>
              <a:tr h="857250">
                <a:tc>
                  <a:txBody>
                    <a:bodyPr/>
                    <a:lstStyle/>
                    <a:p>
                      <a:r>
                        <a:rPr sz="2175" b="1">
                          <a:solidFill>
                            <a:srgbClr val="FFFFFF"/>
                          </a:solidFill>
                          <a:latin typeface="Arial"/>
                          <a:ea typeface="Arial"/>
                          <a:cs typeface="Arial"/>
                        </a:rPr>
                        <a:t>Producto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Precio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Stock final</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Valor</a:t>
                      </a:r>
                    </a:p>
                  </a:txBody>
                  <a:tcPr marL="152400" marR="152400" marT="114300" marB="114300" anchor="ctr">
                    <a:solidFill>
                      <a:srgbClr val="142A3B"/>
                    </a:solidFill>
                  </a:tcPr>
                </a:tc>
              </a:tr>
              <a:tr h="857250">
                <a:tc>
                  <a:txBody>
                    <a:bodyPr/>
                    <a:lstStyle/>
                    <a:p>
                      <a:r>
                        <a:rPr sz="2175" b="0">
                          <a:solidFill>
                            <a:srgbClr val="142A3B"/>
                          </a:solidFill>
                          <a:latin typeface="Arial"/>
                          <a:ea typeface="Arial"/>
                          <a:cs typeface="Arial"/>
                        </a:rPr>
                        <a:t>A01 · Arroz</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4.50</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5</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22.50</a:t>
                      </a:r>
                    </a:p>
                  </a:txBody>
                  <a:tcPr marL="152400" marR="152400" marT="114300" marB="114300" anchor="ctr">
                    <a:solidFill>
                      <a:srgbClr val="FFFFFF"/>
                    </a:solidFill>
                  </a:tcPr>
                </a:tc>
              </a:tr>
              <a:tr h="857250">
                <a:tc>
                  <a:txBody>
                    <a:bodyPr/>
                    <a:lstStyle/>
                    <a:p>
                      <a:r>
                        <a:rPr sz="2175" b="0">
                          <a:solidFill>
                            <a:srgbClr val="142A3B"/>
                          </a:solidFill>
                          <a:latin typeface="Arial"/>
                          <a:ea typeface="Arial"/>
                          <a:cs typeface="Arial"/>
                        </a:rPr>
                        <a:t>B01 · Aceite</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8.00</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2</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16.00</a:t>
                      </a:r>
                    </a:p>
                  </a:txBody>
                  <a:tcPr marL="152400" marR="152400" marT="114300" marB="114300" anchor="ctr">
                    <a:solidFill>
                      <a:srgbClr val="ECF3F2"/>
                    </a:solidFill>
                  </a:tcPr>
                </a:tc>
              </a:tr>
            </a:tbl>
          </a:graphicData>
        </a:graphic>
      </p:graphicFrame>
      <p:sp>
        <p:nvSpPr>
          <p:cNvPr id="5" name="Arroz: 10 unidades, retiro de 7 e ingres">
            <a:extLst xmlns:a="http://schemas.openxmlformats.org/drawingml/2006/main">
              <a:ext uri="{FF2B5EF4-FFF2-40B4-BE49-F238E27FC236}">
                <a16:creationId xmlns:a16="http://schemas.microsoft.com/office/drawing/2014/main" id="{981549CC-09F4-423A-8798-FAB81B76B810}"/>
              </a:ext>
            </a:extLst>
          </p:cNvPr>
          <p:cNvSpPr>
            <a:spLocks xmlns:a="http://schemas.openxmlformats.org/drawingml/2006/main" noGrp="1"/>
          </p:cNvSpPr>
          <p:nvPr/>
        </p:nvSpPr>
        <p:spPr>
          <a:xfrm xmlns:a="http://schemas.openxmlformats.org/drawingml/2006/main">
            <a:off x="609600" y="4667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52616B"/>
                </a:solidFill>
                <a:latin typeface="Arial"/>
                <a:ea typeface="Arial"/>
                <a:cs typeface="Arial"/>
              </a:defRPr>
            </a:pPr>
            <a:r>
              <a:rPr sz="2250" b="0">
                <a:solidFill>
                  <a:srgbClr val="52616B"/>
                </a:solidFill>
                <a:latin typeface="Arial"/>
                <a:ea typeface="Arial"/>
                <a:cs typeface="Arial"/>
              </a:rPr>
              <a:t>Arroz: 10 unidades, retiro de 7 e ingreso de 2.</a:t>
            </a:r>
          </a:p>
        </p:txBody>
      </p:sp>
      <p:sp>
        <p:nvSpPr>
          <p:cNvPr id="6" name="7 unidades     1 alerta     S/ 38.50 en ">
            <a:extLst xmlns:a="http://schemas.openxmlformats.org/drawingml/2006/main">
              <a:ext uri="{FF2B5EF4-FFF2-40B4-BE49-F238E27FC236}">
                <a16:creationId xmlns:a16="http://schemas.microsoft.com/office/drawing/2014/main" id="{8DD0A6E0-38A7-45B9-9C9F-CE2A02C2AE83}"/>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007D80"/>
                </a:solidFill>
                <a:latin typeface="Arial"/>
                <a:ea typeface="Arial"/>
                <a:cs typeface="Arial"/>
              </a:defRPr>
            </a:pPr>
            <a:r>
              <a:rPr sz="2850" b="1">
                <a:solidFill>
                  <a:srgbClr val="007D80"/>
                </a:solidFill>
                <a:latin typeface="Arial"/>
                <a:ea typeface="Arial"/>
                <a:cs typeface="Arial"/>
              </a:rPr>
              <a:t>7 unidades     1 alerta     S/ 38.50 en total</a:t>
            </a:r>
          </a:p>
        </p:txBody>
      </p:sp>
    </p:spTree>
    <p:extLst>
      <p:ext uri="{BB962C8B-B14F-4D97-AF65-F5344CB8AC3E}">
        <p14:creationId xmlns:p14="http://schemas.microsoft.com/office/powerpoint/2010/main" val="1083831693"/>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Validaciones que protegen el stock">
            <a:extLst xmlns:a="http://schemas.openxmlformats.org/drawingml/2006/main">
              <a:ext uri="{FF2B5EF4-FFF2-40B4-BE49-F238E27FC236}">
                <a16:creationId xmlns:a16="http://schemas.microsoft.com/office/drawing/2014/main" id="{51042F70-25CC-454B-8624-C8835DDB0B0C}"/>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Validaciones que protegen el stock</a:t>
            </a:r>
          </a:p>
        </p:txBody>
      </p:sp>
      <p:sp>
        <p:nvSpPr>
          <p:cNvPr id="2" name="César Augusto MAGUIÑA ROBLES">
            <a:extLst xmlns:a="http://schemas.openxmlformats.org/drawingml/2006/main">
              <a:ext uri="{FF2B5EF4-FFF2-40B4-BE49-F238E27FC236}">
                <a16:creationId xmlns:a16="http://schemas.microsoft.com/office/drawing/2014/main" id="{A95F1D32-7B73-446E-B890-78ED08CF3B75}"/>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César Augusto MAGUIÑA ROBLES</a:t>
            </a:r>
          </a:p>
        </p:txBody>
      </p:sp>
      <p:sp>
        <p:nvSpPr>
          <p:cNvPr id="3" name="08">
            <a:extLst xmlns:a="http://schemas.openxmlformats.org/drawingml/2006/main">
              <a:ext uri="{FF2B5EF4-FFF2-40B4-BE49-F238E27FC236}">
                <a16:creationId xmlns:a16="http://schemas.microsoft.com/office/drawing/2014/main" id="{867F14A3-3D0D-4108-9281-6E1F52CFAC8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08</a:t>
            </a:r>
          </a:p>
        </p:txBody>
      </p:sp>
      <p:sp>
        <p:nvSpPr>
          <p:cNvPr id="4" name="public boolean retirarStock(int cantidad">
            <a:extLst xmlns:a="http://schemas.openxmlformats.org/drawingml/2006/main">
              <a:ext uri="{FF2B5EF4-FFF2-40B4-BE49-F238E27FC236}">
                <a16:creationId xmlns:a16="http://schemas.microsoft.com/office/drawing/2014/main" id="{91BBBBAE-FD5F-4CA4-BBC5-85E9AB356FF1}"/>
              </a:ext>
            </a:extLst>
          </p:cNvPr>
          <p:cNvSpPr>
            <a:spLocks xmlns:a="http://schemas.openxmlformats.org/drawingml/2006/main" noGrp="1"/>
          </p:cNvSpPr>
          <p:nvPr/>
        </p:nvSpPr>
        <p:spPr>
          <a:xfrm xmlns:a="http://schemas.openxmlformats.org/drawingml/2006/main">
            <a:off x="609600" y="1647825"/>
            <a:ext cx="1097280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public boolean retirarStock(int cantidad) {</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if (tieneStock(cantidad)) {</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stock -= cantidad;</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return true;</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    return false;</a:t>
            </a:r>
          </a:p>
          <a:p xmlns:a="http://schemas.openxmlformats.org/drawingml/2006/main">
            <a:pPr>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5" name="Con 3 unidades, retirar 4 se rechaza. El">
            <a:extLst xmlns:a="http://schemas.openxmlformats.org/drawingml/2006/main">
              <a:ext uri="{FF2B5EF4-FFF2-40B4-BE49-F238E27FC236}">
                <a16:creationId xmlns:a16="http://schemas.microsoft.com/office/drawing/2014/main" id="{F9DB40F6-ECD6-4381-8DFF-B54827ECA4A0}"/>
              </a:ext>
            </a:extLst>
          </p:cNvPr>
          <p:cNvSpPr>
            <a:spLocks xmlns:a="http://schemas.openxmlformats.org/drawingml/2006/main" noGrp="1"/>
          </p:cNvSpPr>
          <p:nvPr/>
        </p:nvSpPr>
        <p:spPr>
          <a:xfrm xmlns:a="http://schemas.openxmlformats.org/drawingml/2006/main">
            <a:off x="609600" y="4762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07D80"/>
                </a:solidFill>
                <a:latin typeface="Arial"/>
                <a:ea typeface="Arial"/>
                <a:cs typeface="Arial"/>
              </a:defRPr>
            </a:pPr>
            <a:r>
              <a:rPr sz="2250" b="1">
                <a:solidFill>
                  <a:srgbClr val="007D80"/>
                </a:solidFill>
                <a:latin typeface="Arial"/>
                <a:ea typeface="Arial"/>
                <a:cs typeface="Arial"/>
              </a:rPr>
              <a:t>Con 3 unidades, retirar 4 se rechaza. El stock sigue en 3.</a:t>
            </a:r>
          </a:p>
        </p:txBody>
      </p:sp>
      <p:sp>
        <p:nvSpPr>
          <p:cNvPr id="6" name="También se validan códigos, precios y ca">
            <a:extLst xmlns:a="http://schemas.openxmlformats.org/drawingml/2006/main">
              <a:ext uri="{FF2B5EF4-FFF2-40B4-BE49-F238E27FC236}">
                <a16:creationId xmlns:a16="http://schemas.microsoft.com/office/drawing/2014/main" id="{CFE5E4B2-A03D-46DC-8731-978885ADBF87}"/>
              </a:ext>
            </a:extLst>
          </p:cNvPr>
          <p:cNvSpPr>
            <a:spLocks xmlns:a="http://schemas.openxmlformats.org/drawingml/2006/main" noGrp="1"/>
          </p:cNvSpPr>
          <p:nvPr/>
        </p:nvSpPr>
        <p:spPr>
          <a:xfrm xmlns:a="http://schemas.openxmlformats.org/drawingml/2006/main">
            <a:off x="609600" y="55054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2616B"/>
                </a:solidFill>
                <a:latin typeface="Arial"/>
                <a:ea typeface="Arial"/>
                <a:cs typeface="Arial"/>
              </a:defRPr>
            </a:pPr>
            <a:r>
              <a:rPr sz="2025" b="0">
                <a:solidFill>
                  <a:srgbClr val="52616B"/>
                </a:solidFill>
                <a:latin typeface="Arial"/>
                <a:ea typeface="Arial"/>
                <a:cs typeface="Arial"/>
              </a:rPr>
              <a:t>También se validan códigos, precios y cantidades positivas.</a:t>
            </a:r>
          </a:p>
        </p:txBody>
      </p:sp>
    </p:spTree>
    <p:extLst>
      <p:ext uri="{BB962C8B-B14F-4D97-AF65-F5344CB8AC3E}">
        <p14:creationId xmlns:p14="http://schemas.microsoft.com/office/powerpoint/2010/main" val="589129858"/>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Pruebas y resultados">
            <a:extLst xmlns:a="http://schemas.openxmlformats.org/drawingml/2006/main">
              <a:ext uri="{FF2B5EF4-FFF2-40B4-BE49-F238E27FC236}">
                <a16:creationId xmlns:a16="http://schemas.microsoft.com/office/drawing/2014/main" id="{4B09D0DF-3361-4939-AB80-2A30A1E12E8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Pruebas y resultados</a:t>
            </a:r>
          </a:p>
        </p:txBody>
      </p:sp>
      <p:sp>
        <p:nvSpPr>
          <p:cNvPr id="2" name="César Augusto MAGUIÑA ROBLES">
            <a:extLst xmlns:a="http://schemas.openxmlformats.org/drawingml/2006/main">
              <a:ext uri="{FF2B5EF4-FFF2-40B4-BE49-F238E27FC236}">
                <a16:creationId xmlns:a16="http://schemas.microsoft.com/office/drawing/2014/main" id="{76B7C4DD-4D30-445E-AF07-A799FF9A56E2}"/>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César Augusto MAGUIÑA ROBLES</a:t>
            </a:r>
          </a:p>
        </p:txBody>
      </p:sp>
      <p:sp>
        <p:nvSpPr>
          <p:cNvPr id="3" name="09">
            <a:extLst xmlns:a="http://schemas.openxmlformats.org/drawingml/2006/main">
              <a:ext uri="{FF2B5EF4-FFF2-40B4-BE49-F238E27FC236}">
                <a16:creationId xmlns:a16="http://schemas.microsoft.com/office/drawing/2014/main" id="{2BF3A891-7A55-438F-802E-E5B37375B3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09</a:t>
            </a:r>
          </a:p>
        </p:txBody>
      </p:sp>
      <p:sp>
        <p:nvSpPr>
          <p:cNvPr id="4" name="142">
            <a:extLst xmlns:a="http://schemas.openxmlformats.org/drawingml/2006/main">
              <a:ext uri="{FF2B5EF4-FFF2-40B4-BE49-F238E27FC236}">
                <a16:creationId xmlns:a16="http://schemas.microsoft.com/office/drawing/2014/main" id="{EE423A8D-EAC9-456E-8D0B-19B97391F419}"/>
              </a:ext>
            </a:extLst>
          </p:cNvPr>
          <p:cNvSpPr>
            <a:spLocks xmlns:a="http://schemas.openxmlformats.org/drawingml/2006/main" noGrp="1"/>
          </p:cNvSpPr>
          <p:nvPr/>
        </p:nvSpPr>
        <p:spPr>
          <a:xfrm xmlns:a="http://schemas.openxmlformats.org/drawingml/2006/main">
            <a:off x="6096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450" b="1">
                <a:solidFill>
                  <a:srgbClr val="007D80"/>
                </a:solidFill>
                <a:latin typeface="Arial"/>
                <a:ea typeface="Arial"/>
                <a:cs typeface="Arial"/>
              </a:defRPr>
            </a:pPr>
            <a:r>
              <a:rPr sz="6450" b="1">
                <a:solidFill>
                  <a:srgbClr val="007D80"/>
                </a:solidFill>
                <a:latin typeface="Arial"/>
                <a:ea typeface="Arial"/>
                <a:cs typeface="Arial"/>
              </a:rPr>
              <a:t>142</a:t>
            </a:r>
          </a:p>
        </p:txBody>
      </p:sp>
      <p:sp>
        <p:nvSpPr>
          <p:cNvPr id="5" name="verificaciones de lógica">
            <a:extLst xmlns:a="http://schemas.openxmlformats.org/drawingml/2006/main">
              <a:ext uri="{FF2B5EF4-FFF2-40B4-BE49-F238E27FC236}">
                <a16:creationId xmlns:a16="http://schemas.microsoft.com/office/drawing/2014/main" id="{CD4A335D-9D80-4B62-9F15-3DA77028912B}"/>
              </a:ext>
            </a:extLst>
          </p:cNvPr>
          <p:cNvSpPr>
            <a:spLocks xmlns:a="http://schemas.openxmlformats.org/drawingml/2006/main" noGrp="1"/>
          </p:cNvSpPr>
          <p:nvPr/>
        </p:nvSpPr>
        <p:spPr>
          <a:xfrm xmlns:a="http://schemas.openxmlformats.org/drawingml/2006/main">
            <a:off x="6096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A3B"/>
                </a:solidFill>
                <a:latin typeface="Arial"/>
                <a:ea typeface="Arial"/>
                <a:cs typeface="Arial"/>
              </a:defRPr>
            </a:pPr>
            <a:r>
              <a:rPr sz="2250" b="0">
                <a:solidFill>
                  <a:srgbClr val="142A3B"/>
                </a:solidFill>
                <a:latin typeface="Arial"/>
                <a:ea typeface="Arial"/>
                <a:cs typeface="Arial"/>
              </a:rPr>
              <a:t>verificaciones de lógica</a:t>
            </a:r>
          </a:p>
        </p:txBody>
      </p:sp>
      <p:sp>
        <p:nvSpPr>
          <p:cNvPr id="6" name="14">
            <a:extLst xmlns:a="http://schemas.openxmlformats.org/drawingml/2006/main">
              <a:ext uri="{FF2B5EF4-FFF2-40B4-BE49-F238E27FC236}">
                <a16:creationId xmlns:a16="http://schemas.microsoft.com/office/drawing/2014/main" id="{C7776206-BB8D-4B4D-8139-FA0B094806DB}"/>
              </a:ext>
            </a:extLst>
          </p:cNvPr>
          <p:cNvSpPr>
            <a:spLocks xmlns:a="http://schemas.openxmlformats.org/drawingml/2006/main" noGrp="1"/>
          </p:cNvSpPr>
          <p:nvPr/>
        </p:nvSpPr>
        <p:spPr>
          <a:xfrm xmlns:a="http://schemas.openxmlformats.org/drawingml/2006/main">
            <a:off x="65151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450" b="1">
                <a:solidFill>
                  <a:srgbClr val="007D80"/>
                </a:solidFill>
                <a:latin typeface="Arial"/>
                <a:ea typeface="Arial"/>
                <a:cs typeface="Arial"/>
              </a:defRPr>
            </a:pPr>
            <a:r>
              <a:rPr sz="6450" b="1">
                <a:solidFill>
                  <a:srgbClr val="007D80"/>
                </a:solidFill>
                <a:latin typeface="Arial"/>
                <a:ea typeface="Arial"/>
                <a:cs typeface="Arial"/>
              </a:rPr>
              <a:t>14</a:t>
            </a:r>
          </a:p>
        </p:txBody>
      </p:sp>
      <p:sp>
        <p:nvSpPr>
          <p:cNvPr id="7" name="escenarios de consola">
            <a:extLst xmlns:a="http://schemas.openxmlformats.org/drawingml/2006/main">
              <a:ext uri="{FF2B5EF4-FFF2-40B4-BE49-F238E27FC236}">
                <a16:creationId xmlns:a16="http://schemas.microsoft.com/office/drawing/2014/main" id="{68771AB7-69C6-497D-B02B-6F4DBC951737}"/>
              </a:ext>
            </a:extLst>
          </p:cNvPr>
          <p:cNvSpPr>
            <a:spLocks xmlns:a="http://schemas.openxmlformats.org/drawingml/2006/main" noGrp="1"/>
          </p:cNvSpPr>
          <p:nvPr/>
        </p:nvSpPr>
        <p:spPr>
          <a:xfrm xmlns:a="http://schemas.openxmlformats.org/drawingml/2006/main">
            <a:off x="65151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A3B"/>
                </a:solidFill>
                <a:latin typeface="Arial"/>
                <a:ea typeface="Arial"/>
                <a:cs typeface="Arial"/>
              </a:defRPr>
            </a:pPr>
            <a:r>
              <a:rPr sz="2250" b="0">
                <a:solidFill>
                  <a:srgbClr val="142A3B"/>
                </a:solidFill>
                <a:latin typeface="Arial"/>
                <a:ea typeface="Arial"/>
                <a:cs typeface="Arial"/>
              </a:rPr>
              <a:t>escenarios de consola</a:t>
            </a:r>
          </a:p>
        </p:txBody>
      </p:sp>
      <p:sp>
        <p:nvSpPr>
          <p:cNvPr id="8" name="Duplicados y capacidad de 100 productos&#10;">
            <a:extLst xmlns:a="http://schemas.openxmlformats.org/drawingml/2006/main">
              <a:ext uri="{FF2B5EF4-FFF2-40B4-BE49-F238E27FC236}">
                <a16:creationId xmlns:a16="http://schemas.microsoft.com/office/drawing/2014/main" id="{14270C9A-0DD3-480E-B6F3-F254FE976EC0}"/>
              </a:ext>
            </a:extLst>
          </p:cNvPr>
          <p:cNvSpPr>
            <a:spLocks xmlns:a="http://schemas.openxmlformats.org/drawingml/2006/main" noGrp="1"/>
          </p:cNvSpPr>
          <p:nvPr/>
        </p:nvSpPr>
        <p:spPr>
          <a:xfrm xmlns:a="http://schemas.openxmlformats.org/drawingml/2006/main">
            <a:off x="609600" y="398145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A3B"/>
                </a:solidFill>
                <a:latin typeface="Arial"/>
                <a:ea typeface="Arial"/>
                <a:cs typeface="Arial"/>
              </a:defRPr>
            </a:pPr>
            <a:r>
              <a:rPr sz="2325" b="0">
                <a:solidFill>
                  <a:srgbClr val="142A3B"/>
                </a:solidFill>
                <a:latin typeface="Arial"/>
                <a:ea typeface="Arial"/>
                <a:cs typeface="Arial"/>
              </a:rPr>
              <a:t>Duplicados y capacidad de 100 productos</a:t>
            </a:r>
          </a:p>
          <a:p xmlns:a="http://schemas.openxmlformats.org/drawingml/2006/main">
            <a:pPr>
              <a:defRPr sz="2325" b="0">
                <a:solidFill>
                  <a:srgbClr val="142A3B"/>
                </a:solidFill>
                <a:latin typeface="Arial"/>
                <a:ea typeface="Arial"/>
                <a:cs typeface="Arial"/>
              </a:defRPr>
            </a:pPr>
            <a:r>
              <a:rPr sz="2325" b="0">
                <a:solidFill>
                  <a:srgbClr val="142A3B"/>
                </a:solidFill>
                <a:latin typeface="Arial"/>
                <a:ea typeface="Arial"/>
                <a:cs typeface="Arial"/>
              </a:rPr>
              <a:t>Retiros rechazados sin cambios en el stock</a:t>
            </a:r>
          </a:p>
          <a:p xmlns:a="http://schemas.openxmlformats.org/drawingml/2006/main">
            <a:pPr>
              <a:defRPr sz="2325" b="0">
                <a:solidFill>
                  <a:srgbClr val="142A3B"/>
                </a:solidFill>
                <a:latin typeface="Arial"/>
                <a:ea typeface="Arial"/>
                <a:cs typeface="Arial"/>
              </a:defRPr>
            </a:pPr>
            <a:r>
              <a:rPr sz="2325" b="0">
                <a:solidFill>
                  <a:srgbClr val="142A3B"/>
                </a:solidFill>
                <a:latin typeface="Arial"/>
                <a:ea typeface="Arial"/>
                <a:cs typeface="Arial"/>
              </a:rPr>
              <a:t>Resumen, entradas inválidas y fin de entrada</a:t>
            </a:r>
          </a:p>
        </p:txBody>
      </p:sp>
      <p:sp>
        <p:nvSpPr>
          <p:cNvPr id="9" name="Evidencias: docs/pruebas.md y docs/ejecu">
            <a:extLst xmlns:a="http://schemas.openxmlformats.org/drawingml/2006/main">
              <a:ext uri="{FF2B5EF4-FFF2-40B4-BE49-F238E27FC236}">
                <a16:creationId xmlns:a16="http://schemas.microsoft.com/office/drawing/2014/main" id="{6AC3B45A-F32B-4568-A43E-4E707F20A7B0}"/>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Evidencias: docs/pruebas.md y docs/ejecucion-ejemplo.txt</a:t>
            </a:r>
          </a:p>
        </p:txBody>
      </p:sp>
    </p:spTree>
    <p:extLst>
      <p:ext uri="{BB962C8B-B14F-4D97-AF65-F5344CB8AC3E}">
        <p14:creationId xmlns:p14="http://schemas.microsoft.com/office/powerpoint/2010/main" val="1459481962"/>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Alcance y entrega">
            <a:extLst xmlns:a="http://schemas.openxmlformats.org/drawingml/2006/main">
              <a:ext uri="{FF2B5EF4-FFF2-40B4-BE49-F238E27FC236}">
                <a16:creationId xmlns:a16="http://schemas.microsoft.com/office/drawing/2014/main" id="{64413924-6716-498F-B26C-E703CAF4CCD6}"/>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A3B"/>
                </a:solidFill>
                <a:latin typeface="Arial"/>
                <a:ea typeface="Arial"/>
                <a:cs typeface="Arial"/>
              </a:defRPr>
            </a:pPr>
            <a:r>
              <a:rPr sz="3600" b="1">
                <a:solidFill>
                  <a:srgbClr val="142A3B"/>
                </a:solidFill>
                <a:latin typeface="Arial"/>
                <a:ea typeface="Arial"/>
                <a:cs typeface="Arial"/>
              </a:rPr>
              <a:t>Alcance y entrega</a:t>
            </a:r>
          </a:p>
        </p:txBody>
      </p:sp>
      <p:sp>
        <p:nvSpPr>
          <p:cNvPr id="2" name="César Augusto MAGUIÑA ROBLES">
            <a:extLst xmlns:a="http://schemas.openxmlformats.org/drawingml/2006/main">
              <a:ext uri="{FF2B5EF4-FFF2-40B4-BE49-F238E27FC236}">
                <a16:creationId xmlns:a16="http://schemas.microsoft.com/office/drawing/2014/main" id="{619044CD-15F5-456C-B7CE-FBCA54DC804C}"/>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César Augusto MAGUIÑA ROBLES</a:t>
            </a:r>
          </a:p>
        </p:txBody>
      </p:sp>
      <p:sp>
        <p:nvSpPr>
          <p:cNvPr id="3" name="10">
            <a:extLst xmlns:a="http://schemas.openxmlformats.org/drawingml/2006/main">
              <a:ext uri="{FF2B5EF4-FFF2-40B4-BE49-F238E27FC236}">
                <a16:creationId xmlns:a16="http://schemas.microsoft.com/office/drawing/2014/main" id="{62CD9EFD-F3E1-48D1-99CB-677FB936427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10</a:t>
            </a:r>
          </a:p>
        </p:txBody>
      </p:sp>
      <p:sp>
        <p:nvSpPr>
          <p:cNvPr id="4" name="Registro, consulta y control de existenc">
            <a:extLst xmlns:a="http://schemas.openxmlformats.org/drawingml/2006/main">
              <a:ext uri="{FF2B5EF4-FFF2-40B4-BE49-F238E27FC236}">
                <a16:creationId xmlns:a16="http://schemas.microsoft.com/office/drawing/2014/main" id="{3DACFE65-252B-475D-B05F-A7E2F900647F}"/>
              </a:ext>
            </a:extLst>
          </p:cNvPr>
          <p:cNvSpPr>
            <a:spLocks xmlns:a="http://schemas.openxmlformats.org/drawingml/2006/main" noGrp="1"/>
          </p:cNvSpPr>
          <p:nvPr/>
        </p:nvSpPr>
        <p:spPr>
          <a:xfrm xmlns:a="http://schemas.openxmlformats.org/drawingml/2006/main">
            <a:off x="609600" y="1724025"/>
            <a:ext cx="10972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142A3B"/>
                </a:solidFill>
                <a:latin typeface="Arial"/>
                <a:ea typeface="Arial"/>
                <a:cs typeface="Arial"/>
              </a:defRPr>
            </a:pPr>
            <a:r>
              <a:rPr sz="2775" b="1">
                <a:solidFill>
                  <a:srgbClr val="142A3B"/>
                </a:solidFill>
                <a:latin typeface="Arial"/>
                <a:ea typeface="Arial"/>
                <a:cs typeface="Arial"/>
              </a:rPr>
              <a:t>Registro, consulta y control de existencias</a:t>
            </a:r>
          </a:p>
          <a:p xmlns:a="http://schemas.openxmlformats.org/drawingml/2006/main">
            <a:pPr>
              <a:defRPr sz="2775" b="1">
                <a:solidFill>
                  <a:srgbClr val="142A3B"/>
                </a:solidFill>
                <a:latin typeface="Arial"/>
                <a:ea typeface="Arial"/>
                <a:cs typeface="Arial"/>
              </a:defRPr>
            </a:pPr>
            <a:r>
              <a:rPr sz="2775" b="1">
                <a:solidFill>
                  <a:srgbClr val="142A3B"/>
                </a:solidFill>
                <a:latin typeface="Arial"/>
                <a:ea typeface="Arial"/>
                <a:cs typeface="Arial"/>
              </a:rPr>
              <a:t>Clases, constructores y métodos</a:t>
            </a:r>
          </a:p>
          <a:p xmlns:a="http://schemas.openxmlformats.org/drawingml/2006/main">
            <a:pPr>
              <a:defRPr sz="2775" b="1">
                <a:solidFill>
                  <a:srgbClr val="142A3B"/>
                </a:solidFill>
                <a:latin typeface="Arial"/>
                <a:ea typeface="Arial"/>
                <a:cs typeface="Arial"/>
              </a:defRPr>
            </a:pPr>
            <a:r>
              <a:rPr sz="2775" b="1">
                <a:solidFill>
                  <a:srgbClr val="142A3B"/>
                </a:solidFill>
                <a:latin typeface="Arial"/>
                <a:ea typeface="Arial"/>
                <a:cs typeface="Arial"/>
              </a:rPr>
              <a:t>Validaciones y estructuras de control</a:t>
            </a:r>
          </a:p>
        </p:txBody>
      </p:sp>
      <p:sp>
        <p:nvSpPr>
          <p:cNvPr id="5" name="Alcance: 100 productos y datos en memori">
            <a:extLst xmlns:a="http://schemas.openxmlformats.org/drawingml/2006/main">
              <a:ext uri="{FF2B5EF4-FFF2-40B4-BE49-F238E27FC236}">
                <a16:creationId xmlns:a16="http://schemas.microsoft.com/office/drawing/2014/main" id="{A05890C8-37C1-4195-9A20-13133DCF4E4B}"/>
              </a:ext>
            </a:extLst>
          </p:cNvPr>
          <p:cNvSpPr>
            <a:spLocks xmlns:a="http://schemas.openxmlformats.org/drawingml/2006/main" noGrp="1"/>
          </p:cNvSpPr>
          <p:nvPr/>
        </p:nvSpPr>
        <p:spPr>
          <a:xfrm xmlns:a="http://schemas.openxmlformats.org/drawingml/2006/main">
            <a:off x="609600" y="39528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2616B"/>
                </a:solidFill>
                <a:latin typeface="Arial"/>
                <a:ea typeface="Arial"/>
                <a:cs typeface="Arial"/>
              </a:defRPr>
            </a:pPr>
            <a:r>
              <a:rPr sz="2025" b="0">
                <a:solidFill>
                  <a:srgbClr val="52616B"/>
                </a:solidFill>
                <a:latin typeface="Arial"/>
                <a:ea typeface="Arial"/>
                <a:cs typeface="Arial"/>
              </a:rPr>
              <a:t>Alcance: 100 productos y datos en memoria durante la sesión.</a:t>
            </a:r>
          </a:p>
          <a:p xmlns:a="http://schemas.openxmlformats.org/drawingml/2006/main">
            <a:pPr>
              <a:defRPr sz="2025" b="0">
                <a:solidFill>
                  <a:srgbClr val="52616B"/>
                </a:solidFill>
                <a:latin typeface="Arial"/>
                <a:ea typeface="Arial"/>
                <a:cs typeface="Arial"/>
              </a:defRPr>
            </a:pPr>
            <a:r>
              <a:rPr sz="2025" b="0">
                <a:solidFill>
                  <a:srgbClr val="52616B"/>
                </a:solidFill>
                <a:latin typeface="Arial"/>
                <a:ea typeface="Arial"/>
                <a:cs typeface="Arial"/>
              </a:rPr>
              <a:t>Precios con double, redondeados y mostrados a dos decimales.</a:t>
            </a:r>
          </a:p>
        </p:txBody>
      </p:sp>
      <p:sp>
        <p:nvSpPr>
          <p:cNvPr id="6" name="Código, instrucciones y evidencias en Gi">
            <a:extLst xmlns:a="http://schemas.openxmlformats.org/drawingml/2006/main">
              <a:ext uri="{FF2B5EF4-FFF2-40B4-BE49-F238E27FC236}">
                <a16:creationId xmlns:a16="http://schemas.microsoft.com/office/drawing/2014/main" id="{8BFD8681-67CA-45D3-9E81-476AE16753C5}"/>
              </a:ext>
            </a:extLst>
          </p:cNvPr>
          <p:cNvSpPr>
            <a:spLocks xmlns:a="http://schemas.openxmlformats.org/drawingml/2006/main" noGrp="1"/>
          </p:cNvSpPr>
          <p:nvPr/>
        </p:nvSpPr>
        <p:spPr>
          <a:xfrm xmlns:a="http://schemas.openxmlformats.org/drawingml/2006/main">
            <a:off x="609600" y="539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7D80"/>
                </a:solidFill>
                <a:latin typeface="Arial"/>
                <a:ea typeface="Arial"/>
                <a:cs typeface="Arial"/>
              </a:defRPr>
            </a:pPr>
            <a:r>
              <a:rPr sz="2175" b="1">
                <a:solidFill>
                  <a:srgbClr val="007D80"/>
                </a:solidFill>
                <a:latin typeface="Arial"/>
                <a:ea typeface="Arial"/>
                <a:cs typeface="Arial"/>
              </a:rPr>
              <a:t>Código, instrucciones y evidencias en GitHub</a:t>
            </a:r>
          </a:p>
        </p:txBody>
      </p:sp>
      <p:sp>
        <p:nvSpPr>
          <p:cNvPr id="7" name="github.com/75729271-dev/pa1-programacion">
            <a:extLst xmlns:a="http://schemas.openxmlformats.org/drawingml/2006/main">
              <a:ext uri="{FF2B5EF4-FFF2-40B4-BE49-F238E27FC236}">
                <a16:creationId xmlns:a16="http://schemas.microsoft.com/office/drawing/2014/main" id="{4CF2C208-DA0C-4D99-B990-A1140C22D0C9}"/>
              </a:ext>
            </a:extLst>
          </p:cNvPr>
          <p:cNvSpPr>
            <a:spLocks xmlns:a="http://schemas.openxmlformats.org/drawingml/2006/main" noGrp="1"/>
          </p:cNvSpPr>
          <p:nvPr/>
        </p:nvSpPr>
        <p:spPr>
          <a:xfrm xmlns:a="http://schemas.openxmlformats.org/drawingml/2006/main">
            <a:off x="609600" y="5819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github.com/75729271-dev/pa1-programacion-orientada-a-objetos</a:t>
            </a:r>
          </a:p>
        </p:txBody>
      </p:sp>
    </p:spTree>
    <p:extLst>
      <p:ext uri="{BB962C8B-B14F-4D97-AF65-F5344CB8AC3E}">
        <p14:creationId xmlns:p14="http://schemas.microsoft.com/office/powerpoint/2010/main" val="643225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2026-09-23T23:56:35.4970000Z</dcterms:created>
  <dcterms:modified xsi:type="dcterms:W3CDTF">2026-09-23T23:56:35.4970000Z</dcterms:modified>
</coreProperties>
</file>